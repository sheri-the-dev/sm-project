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7" r:id="rId2"/>
    <p:sldId id="379" r:id="rId3"/>
    <p:sldId id="391" r:id="rId4"/>
    <p:sldId id="397" r:id="rId5"/>
    <p:sldId id="321" r:id="rId6"/>
    <p:sldId id="366" r:id="rId7"/>
    <p:sldId id="367" r:id="rId8"/>
    <p:sldId id="361" r:id="rId9"/>
    <p:sldId id="365" r:id="rId10"/>
    <p:sldId id="368" r:id="rId11"/>
    <p:sldId id="291" r:id="rId12"/>
    <p:sldId id="392" r:id="rId13"/>
    <p:sldId id="395" r:id="rId14"/>
    <p:sldId id="326" r:id="rId15"/>
    <p:sldId id="327" r:id="rId16"/>
    <p:sldId id="328" r:id="rId17"/>
    <p:sldId id="329" r:id="rId18"/>
    <p:sldId id="330" r:id="rId19"/>
    <p:sldId id="378" r:id="rId20"/>
    <p:sldId id="331" r:id="rId21"/>
    <p:sldId id="332" r:id="rId22"/>
    <p:sldId id="343" r:id="rId23"/>
    <p:sldId id="380" r:id="rId24"/>
    <p:sldId id="384" r:id="rId25"/>
    <p:sldId id="385" r:id="rId26"/>
    <p:sldId id="386" r:id="rId27"/>
    <p:sldId id="387" r:id="rId28"/>
    <p:sldId id="388" r:id="rId29"/>
    <p:sldId id="389" r:id="rId30"/>
    <p:sldId id="390" r:id="rId31"/>
    <p:sldId id="335" r:id="rId32"/>
    <p:sldId id="336" r:id="rId33"/>
    <p:sldId id="381" r:id="rId34"/>
    <p:sldId id="382" r:id="rId35"/>
    <p:sldId id="393" r:id="rId36"/>
    <p:sldId id="337" r:id="rId37"/>
    <p:sldId id="383" r:id="rId38"/>
    <p:sldId id="341" r:id="rId39"/>
    <p:sldId id="316" r:id="rId40"/>
    <p:sldId id="317" r:id="rId41"/>
    <p:sldId id="318" r:id="rId42"/>
    <p:sldId id="319" r:id="rId43"/>
    <p:sldId id="347" r:id="rId44"/>
    <p:sldId id="345" r:id="rId45"/>
    <p:sldId id="394" r:id="rId46"/>
    <p:sldId id="396" r:id="rId47"/>
    <p:sldId id="282" r:id="rId48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0000"/>
    <a:srgbClr val="0033CC"/>
    <a:srgbClr val="008000"/>
    <a:srgbClr val="0099FF"/>
    <a:srgbClr val="003300"/>
    <a:srgbClr val="5F5F5F"/>
    <a:srgbClr val="333333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6" autoAdjust="0"/>
    <p:restoredTop sz="94662" autoAdjust="0"/>
  </p:normalViewPr>
  <p:slideViewPr>
    <p:cSldViewPr>
      <p:cViewPr varScale="1">
        <p:scale>
          <a:sx n="91" d="100"/>
          <a:sy n="91" d="100"/>
        </p:scale>
        <p:origin x="-1254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8160"/>
    </p:cViewPr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F2F9-9E21-4A4D-B58B-50242175013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22883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F2F9-9E21-4A4D-B58B-50242175013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54056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F2F9-9E21-4A4D-B58B-50242175013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55582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F2F9-9E21-4A4D-B58B-50242175013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25700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F2F9-9E21-4A4D-B58B-50242175013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08271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F2F9-9E21-4A4D-B58B-50242175013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04394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F2F9-9E21-4A4D-B58B-50242175013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62532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F2F9-9E21-4A4D-B58B-50242175013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05862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F2F9-9E21-4A4D-B58B-50242175013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59681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F2F9-9E21-4A4D-B58B-50242175013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36284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F2F9-9E21-4A4D-B58B-50242175013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39046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FF2F9-9E21-4A4D-B58B-50242175013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2582B-FC16-47B7-A505-CBC6F67FA4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36183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moellim.riphah.edu.pk/course/view.php?id=7459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mailto:ha.shah@riphah.edu.pk" TargetMode="External"/><Relationship Id="rId2" Type="http://schemas.openxmlformats.org/officeDocument/2006/relationships/hyperlink" Target="mailto:muhammad.shabbir@riphah.edu.pk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mailto:mubariz.rehman@riphah.edu.pk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Final Year Project</a:t>
            </a:r>
            <a:r>
              <a:rPr lang="en-US" dirty="0"/>
              <a:t/>
            </a:r>
            <a:br>
              <a:rPr lang="en-US" dirty="0"/>
            </a:br>
            <a:r>
              <a:rPr lang="en-US" sz="3200" dirty="0"/>
              <a:t>Orientation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Faculty of Computing</a:t>
            </a:r>
          </a:p>
          <a:p>
            <a:r>
              <a:rPr lang="en-US" sz="2400" dirty="0" err="1"/>
              <a:t>Riphah</a:t>
            </a:r>
            <a:r>
              <a:rPr lang="en-US" sz="2400" dirty="0"/>
              <a:t> International University</a:t>
            </a:r>
          </a:p>
          <a:p>
            <a:r>
              <a:rPr lang="en-US" sz="1400" dirty="0" smtClean="0"/>
              <a:t>Fall 2025</a:t>
            </a:r>
            <a:endParaRPr lang="en-US" sz="1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8979" t="5269" r="8623" b="7344"/>
          <a:stretch/>
        </p:blipFill>
        <p:spPr>
          <a:xfrm>
            <a:off x="2057400" y="4173357"/>
            <a:ext cx="568214" cy="77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08038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b="1" dirty="0"/>
              <a:t>Project Idea / Scope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b="1" dirty="0"/>
              <a:t>Project Team / Supervisor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b="1" dirty="0"/>
              <a:t>Policies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b="1" dirty="0"/>
              <a:t>Schedule / Deliverables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b="1" dirty="0"/>
              <a:t>Project Report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1286491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</a:t>
            </a:r>
            <a:br>
              <a:rPr lang="en-US" dirty="0"/>
            </a:br>
            <a:r>
              <a:rPr lang="en-US" dirty="0"/>
              <a:t>Idea / Scope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4903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Purpose of Final Year </a:t>
            </a:r>
            <a:r>
              <a:rPr lang="en-US" dirty="0"/>
              <a:t>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0"/>
              </a:spcBef>
              <a:spcAft>
                <a:spcPts val="3000"/>
              </a:spcAft>
            </a:pPr>
            <a:r>
              <a:rPr lang="en-US" dirty="0" smtClean="0"/>
              <a:t>    The Final Year Project (FYP) provides you with an opportunity to apply the principles learned in different courses, and integrate material learned at different stages of your BSSE degree program.</a:t>
            </a:r>
          </a:p>
          <a:p>
            <a:pPr algn="just">
              <a:spcBef>
                <a:spcPts val="0"/>
              </a:spcBef>
              <a:spcAft>
                <a:spcPts val="3000"/>
              </a:spcAft>
            </a:pPr>
            <a:r>
              <a:rPr lang="en-US" dirty="0" smtClean="0"/>
              <a:t>   There may also be a need for additional, domain specific knowledge in a project, which will necessitate additional study.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7667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Year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spcBef>
                <a:spcPts val="0"/>
              </a:spcBef>
              <a:spcAft>
                <a:spcPts val="3000"/>
              </a:spcAft>
            </a:pPr>
            <a:r>
              <a:rPr lang="en-US" sz="2000" dirty="0"/>
              <a:t>It is the </a:t>
            </a:r>
            <a:r>
              <a:rPr lang="en-US" sz="2000" b="1" dirty="0"/>
              <a:t>largest single piece of work </a:t>
            </a:r>
            <a:r>
              <a:rPr lang="en-US" sz="2000" dirty="0"/>
              <a:t>you will do during your degree course.</a:t>
            </a:r>
          </a:p>
          <a:p>
            <a:pPr>
              <a:spcBef>
                <a:spcPts val="0"/>
              </a:spcBef>
              <a:spcAft>
                <a:spcPts val="3000"/>
              </a:spcAft>
            </a:pPr>
            <a:r>
              <a:rPr lang="en-US" sz="2000" dirty="0"/>
              <a:t>It is the part of the curriculum that allows you to </a:t>
            </a:r>
            <a:r>
              <a:rPr lang="en-US" sz="2000" b="1" dirty="0"/>
              <a:t>specialize in a topic</a:t>
            </a:r>
            <a:r>
              <a:rPr lang="en-US" sz="2000" dirty="0"/>
              <a:t> you are good at or enjoy. It allows you </a:t>
            </a:r>
            <a:r>
              <a:rPr lang="en-US" sz="2000" b="1" dirty="0"/>
              <a:t>integration of material learned </a:t>
            </a:r>
            <a:r>
              <a:rPr lang="en-US" sz="2000" dirty="0"/>
              <a:t>in a number of courses.</a:t>
            </a:r>
          </a:p>
          <a:p>
            <a:pPr lvl="0">
              <a:spcBef>
                <a:spcPts val="0"/>
              </a:spcBef>
              <a:spcAft>
                <a:spcPts val="3000"/>
              </a:spcAft>
            </a:pPr>
            <a:r>
              <a:rPr lang="en-US" sz="2000" dirty="0"/>
              <a:t>It is the part of your degree program that prospective employers will most likely </a:t>
            </a:r>
            <a:r>
              <a:rPr lang="en-US" sz="2000" b="1" dirty="0"/>
              <a:t>ask you about at an interview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337667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3000"/>
              </a:spcAft>
            </a:pPr>
            <a:r>
              <a:rPr lang="en-US" sz="2000" dirty="0"/>
              <a:t>Given that you are going to spend a lot of time working on your project, it is essential that you </a:t>
            </a:r>
            <a:r>
              <a:rPr lang="en-US" sz="2000" b="1" dirty="0"/>
              <a:t>pick a project which you </a:t>
            </a:r>
            <a:r>
              <a:rPr lang="en-US" sz="2000" b="1" dirty="0">
                <a:solidFill>
                  <a:srgbClr val="3333FF"/>
                </a:solidFill>
              </a:rPr>
              <a:t>like</a:t>
            </a:r>
            <a:r>
              <a:rPr lang="en-US" sz="2000" b="1" dirty="0"/>
              <a:t> and which you are </a:t>
            </a:r>
            <a:r>
              <a:rPr lang="en-US" sz="2000" b="1" dirty="0">
                <a:solidFill>
                  <a:srgbClr val="3333FF"/>
                </a:solidFill>
              </a:rPr>
              <a:t>capable</a:t>
            </a:r>
            <a:r>
              <a:rPr lang="en-US" sz="2000" b="1" dirty="0"/>
              <a:t> of doing</a:t>
            </a:r>
            <a:r>
              <a:rPr lang="en-US" sz="2000" dirty="0"/>
              <a:t>. 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000" dirty="0"/>
              <a:t>Note that these are not necessarily the same things: </a:t>
            </a:r>
            <a:r>
              <a:rPr lang="en-US" sz="2000" b="1" dirty="0"/>
              <a:t>just because you like a particular project doesn’t mean you are qualified to do it</a:t>
            </a:r>
            <a:r>
              <a:rPr lang="en-US" sz="2000" dirty="0"/>
              <a:t>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1092295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3000"/>
              </a:spcAft>
            </a:pPr>
            <a:r>
              <a:rPr lang="en-US" sz="2000" dirty="0"/>
              <a:t>Faculty members will evaluate your proposal for: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scope, 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complexity, 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originality of idea (creativity) and 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amount of self-learning involved. </a:t>
            </a:r>
          </a:p>
          <a:p>
            <a:pPr>
              <a:spcBef>
                <a:spcPts val="2400"/>
              </a:spcBef>
              <a:spcAft>
                <a:spcPts val="1200"/>
              </a:spcAft>
            </a:pPr>
            <a:r>
              <a:rPr lang="en-US" sz="2000" dirty="0"/>
              <a:t>Your project idea must provide </a:t>
            </a:r>
            <a:r>
              <a:rPr lang="en-US" sz="2000" b="1" dirty="0"/>
              <a:t>software system based solution </a:t>
            </a:r>
            <a:r>
              <a:rPr lang="en-US" sz="2000" dirty="0"/>
              <a:t>by clearly identifying </a:t>
            </a:r>
            <a:r>
              <a:rPr lang="en-US" sz="2000" b="1" dirty="0"/>
              <a:t>opportunity(</a:t>
            </a:r>
            <a:r>
              <a:rPr lang="en-US" sz="2000" b="1" dirty="0" err="1"/>
              <a:t>ies</a:t>
            </a:r>
            <a:r>
              <a:rPr lang="en-US" sz="2000" b="1" dirty="0"/>
              <a:t>) </a:t>
            </a:r>
            <a:r>
              <a:rPr lang="en-US" sz="2000" dirty="0"/>
              <a:t>and the </a:t>
            </a:r>
            <a:r>
              <a:rPr lang="en-US" sz="2000" b="1" dirty="0"/>
              <a:t>stakeholders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2293659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  <a:br>
              <a:rPr lang="en-US" dirty="0"/>
            </a:br>
            <a:r>
              <a:rPr lang="en-US" dirty="0"/>
              <a:t>Team / Supervisor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88768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3000"/>
              </a:spcAft>
            </a:pPr>
            <a:r>
              <a:rPr lang="en-US" sz="2000" dirty="0"/>
              <a:t>Ideally a you should form a team of </a:t>
            </a:r>
            <a:r>
              <a:rPr lang="en-US" sz="2000" b="1" dirty="0"/>
              <a:t>3</a:t>
            </a:r>
            <a:r>
              <a:rPr lang="en-US" sz="2000" dirty="0"/>
              <a:t> members </a:t>
            </a:r>
          </a:p>
          <a:p>
            <a:pPr>
              <a:spcBef>
                <a:spcPts val="600"/>
              </a:spcBef>
              <a:spcAft>
                <a:spcPts val="3000"/>
              </a:spcAft>
            </a:pPr>
            <a:r>
              <a:rPr lang="en-US" sz="2000" dirty="0"/>
              <a:t>This is important to demonstrate </a:t>
            </a:r>
            <a:r>
              <a:rPr lang="en-US" sz="2000" b="1" dirty="0"/>
              <a:t>team work, </a:t>
            </a:r>
            <a:r>
              <a:rPr lang="en-US" sz="2000" dirty="0"/>
              <a:t>but also necessary so that a project has </a:t>
            </a:r>
            <a:r>
              <a:rPr lang="en-US" sz="2000" b="1" dirty="0"/>
              <a:t>enough resources for achieving desired quality</a:t>
            </a:r>
          </a:p>
          <a:p>
            <a:pPr>
              <a:spcBef>
                <a:spcPts val="600"/>
              </a:spcBef>
              <a:spcAft>
                <a:spcPts val="3000"/>
              </a:spcAft>
            </a:pPr>
            <a:r>
              <a:rPr lang="en-US" sz="2000" dirty="0"/>
              <a:t>A team of 2, 4 or 5 students can be formed only if the </a:t>
            </a:r>
            <a:r>
              <a:rPr lang="en-US" sz="2000" b="1" dirty="0"/>
              <a:t>scope and complexity of the project justifies</a:t>
            </a:r>
            <a:r>
              <a:rPr lang="en-US" sz="2000" dirty="0"/>
              <a:t> these numbers.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955055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Project Supervisor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3000"/>
              </a:spcAft>
            </a:pPr>
            <a:r>
              <a:rPr lang="en-US" sz="2000" dirty="0" smtClean="0"/>
              <a:t> Your </a:t>
            </a:r>
            <a:r>
              <a:rPr lang="en-US" sz="2000" dirty="0"/>
              <a:t>supervisor is only suppose to provide you with </a:t>
            </a:r>
            <a:r>
              <a:rPr lang="en-US" sz="2000" b="1" dirty="0"/>
              <a:t>guidance and feedback, </a:t>
            </a:r>
            <a:r>
              <a:rPr lang="en-US" sz="2000" b="1" dirty="0" smtClean="0"/>
              <a:t>time to time and </a:t>
            </a:r>
            <a:r>
              <a:rPr lang="en-US" sz="2000" dirty="0" smtClean="0"/>
              <a:t>you </a:t>
            </a:r>
            <a:r>
              <a:rPr lang="en-US" sz="2000" dirty="0"/>
              <a:t>are fully responsible for your project success / failure. </a:t>
            </a:r>
            <a:endParaRPr lang="en-US" sz="2000" dirty="0" smtClean="0"/>
          </a:p>
          <a:p>
            <a:pPr marL="0" indent="0">
              <a:spcBef>
                <a:spcPts val="0"/>
              </a:spcBef>
              <a:spcAft>
                <a:spcPts val="3000"/>
              </a:spcAft>
            </a:pPr>
            <a:r>
              <a:rPr lang="en-US" sz="2000" dirty="0" smtClean="0"/>
              <a:t> Supervisor will maintain the weekly attendance of their project.</a:t>
            </a:r>
          </a:p>
          <a:p>
            <a:pPr marL="0" indent="0">
              <a:spcBef>
                <a:spcPts val="0"/>
              </a:spcBef>
              <a:spcAft>
                <a:spcPts val="3000"/>
              </a:spcAft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3680729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Supervisors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476794600"/>
              </p:ext>
            </p:extLst>
          </p:nvPr>
        </p:nvGraphicFramePr>
        <p:xfrm>
          <a:off x="457200" y="1600200"/>
          <a:ext cx="8229599" cy="2966720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332814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9432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9432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1279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Supervisor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Quota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Dr. Naveed Ikram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Dr. Muhammad Zubair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Dr. </a:t>
                      </a:r>
                      <a:r>
                        <a:rPr lang="en-US" sz="1600" b="1" i="0" u="none" strike="noStrike" dirty="0" err="1" smtClean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Musharif</a:t>
                      </a:r>
                      <a:r>
                        <a:rPr lang="en-US" sz="1600" b="1" i="0" u="none" strike="noStrike" baseline="0" dirty="0" smtClean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Ahmed</a:t>
                      </a:r>
                      <a:endParaRPr lang="en-US" sz="1600" b="1" i="0" u="none" strike="noStrike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Mr. Abdul </a:t>
                      </a:r>
                      <a:r>
                        <a:rPr lang="en-US" sz="1600" b="1" i="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Mateen</a:t>
                      </a:r>
                      <a:endParaRPr lang="en-US" sz="1600" b="1" i="0" u="none" strike="noStrike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Mr. </a:t>
                      </a:r>
                      <a:r>
                        <a:rPr lang="en-US" sz="1600" b="1" i="0" u="none" strike="noStrike" dirty="0" err="1" smtClean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Mansoor</a:t>
                      </a:r>
                      <a:r>
                        <a:rPr lang="en-US" sz="1600" b="1" i="0" u="none" strike="noStrike" dirty="0" smtClean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600" b="1" i="0" u="none" strike="noStrike" dirty="0" err="1" smtClean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Alam</a:t>
                      </a:r>
                      <a:endParaRPr lang="en-US" sz="1600" b="1" i="0" u="none" strike="noStrike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Mr. Muhammad Saud Khan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Mr. Muhammad </a:t>
                      </a:r>
                      <a:r>
                        <a:rPr lang="en-US" sz="1600" b="1" i="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Shabbir</a:t>
                      </a:r>
                      <a:r>
                        <a:rPr lang="en-US" sz="16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Hassan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61594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Supervisors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407788832"/>
              </p:ext>
            </p:extLst>
          </p:nvPr>
        </p:nvGraphicFramePr>
        <p:xfrm>
          <a:off x="457200" y="1600200"/>
          <a:ext cx="8229599" cy="2595880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332814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9432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9432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1279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Supervisor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Quota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Mr. </a:t>
                      </a:r>
                      <a:r>
                        <a:rPr lang="en-US" sz="1600" b="1" i="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Sherjeel</a:t>
                      </a:r>
                      <a:r>
                        <a:rPr lang="en-US" sz="16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600" b="1" i="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Gillani</a:t>
                      </a:r>
                      <a:endParaRPr lang="en-US" sz="1600" b="1" i="0" u="none" strike="noStrike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Mr. Muhammad Osama Raza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 smtClean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Mr. Muhammad </a:t>
                      </a:r>
                      <a:r>
                        <a:rPr lang="en-US" sz="1600" b="1" i="0" u="none" strike="noStrike" dirty="0" err="1" smtClean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Imran</a:t>
                      </a:r>
                      <a:r>
                        <a:rPr lang="en-US" sz="1600" b="1" i="0" u="none" strike="noStrike" dirty="0" smtClean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Khan</a:t>
                      </a:r>
                      <a:endParaRPr lang="en-US" sz="1600" b="1" i="0" u="none" strike="noStrike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Mr. </a:t>
                      </a:r>
                      <a:r>
                        <a:rPr lang="en-US" sz="1600" b="1" i="0" u="none" strike="noStrike" dirty="0" smtClean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Islam </a:t>
                      </a:r>
                      <a:r>
                        <a:rPr lang="en-US" sz="1600" b="1" i="0" u="none" strike="noStrike" dirty="0" err="1" smtClean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Abbasi</a:t>
                      </a:r>
                      <a:endParaRPr lang="en-US" sz="1600" b="1" i="0" u="none" strike="noStrike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Mr. </a:t>
                      </a:r>
                      <a:r>
                        <a:rPr lang="en-US" sz="16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Rana</a:t>
                      </a: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Sheroz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Mr. </a:t>
                      </a: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Shahid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415043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Supervisors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937882212"/>
              </p:ext>
            </p:extLst>
          </p:nvPr>
        </p:nvGraphicFramePr>
        <p:xfrm>
          <a:off x="457200" y="1600200"/>
          <a:ext cx="8229599" cy="1854200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332814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9432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9432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1279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Supervisor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Quota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Mr. </a:t>
                      </a:r>
                      <a:r>
                        <a:rPr lang="en-US" sz="1600" b="1" i="0" u="none" strike="noStrike" dirty="0" err="1" smtClean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Mubraiz</a:t>
                      </a:r>
                      <a:endParaRPr lang="en-US" sz="1600" b="1" i="0" u="none" strike="noStrike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Mr.  </a:t>
                      </a:r>
                      <a:r>
                        <a:rPr lang="en-US" sz="1600" b="1" i="0" u="none" strike="noStrike" dirty="0" err="1" smtClean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EithshamUllah</a:t>
                      </a:r>
                      <a:endParaRPr lang="en-US" sz="1600" b="1" i="0" u="none" strike="noStrike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Mr. </a:t>
                      </a:r>
                      <a:r>
                        <a:rPr lang="en-US" sz="16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Tajamul</a:t>
                      </a: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Shahzad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Mr. Muhammad</a:t>
                      </a:r>
                      <a:r>
                        <a:rPr lang="en-US" sz="16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1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Shahzad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864047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Policies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42292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600"/>
              </a:spcBef>
              <a:spcAft>
                <a:spcPts val="2400"/>
              </a:spcAft>
            </a:pPr>
            <a:r>
              <a:rPr lang="en-US" sz="2000" dirty="0"/>
              <a:t>Entire group (all members) </a:t>
            </a:r>
            <a:r>
              <a:rPr lang="en-US" sz="2000" b="1" dirty="0"/>
              <a:t>must officially meet </a:t>
            </a:r>
            <a:r>
              <a:rPr lang="en-US" sz="2000" dirty="0"/>
              <a:t>with their supervisor once a week</a:t>
            </a:r>
            <a:r>
              <a:rPr lang="en-US" sz="2000" dirty="0" smtClean="0"/>
              <a:t>.</a:t>
            </a:r>
          </a:p>
          <a:p>
            <a:pPr>
              <a:spcBef>
                <a:spcPts val="600"/>
              </a:spcBef>
              <a:spcAft>
                <a:spcPts val="2400"/>
              </a:spcAft>
            </a:pPr>
            <a:r>
              <a:rPr lang="en-US" sz="2000" dirty="0" smtClean="0"/>
              <a:t>Every month student should submit the satisfactory report to the Project coordination office (</a:t>
            </a:r>
            <a:r>
              <a:rPr lang="en-US" sz="2000" dirty="0" err="1" smtClean="0"/>
              <a:t>Shahzad</a:t>
            </a:r>
            <a:r>
              <a:rPr lang="en-US" sz="2000" dirty="0" smtClean="0"/>
              <a:t> Ahmed), signed by their respective supervisor.</a:t>
            </a:r>
            <a:endParaRPr lang="en-US" sz="2000" dirty="0"/>
          </a:p>
          <a:p>
            <a:pPr>
              <a:spcBef>
                <a:spcPts val="600"/>
              </a:spcBef>
              <a:spcAft>
                <a:spcPts val="2400"/>
              </a:spcAft>
            </a:pPr>
            <a:r>
              <a:rPr lang="en-US" sz="2000" dirty="0"/>
              <a:t>Incase group fail to meet their supervisor in </a:t>
            </a:r>
            <a:r>
              <a:rPr lang="en-US" sz="2000" b="1" dirty="0"/>
              <a:t>three consecutive weeks</a:t>
            </a:r>
            <a:r>
              <a:rPr lang="en-US" sz="2000" dirty="0"/>
              <a:t>. The entire group will automatically earn “</a:t>
            </a:r>
            <a:r>
              <a:rPr lang="en-US" sz="2000" b="1" dirty="0"/>
              <a:t>F</a:t>
            </a:r>
            <a:r>
              <a:rPr lang="en-US" sz="2000" dirty="0"/>
              <a:t>” grade .</a:t>
            </a:r>
          </a:p>
          <a:p>
            <a:pPr>
              <a:spcBef>
                <a:spcPts val="600"/>
              </a:spcBef>
              <a:spcAft>
                <a:spcPts val="2400"/>
              </a:spcAft>
            </a:pPr>
            <a:r>
              <a:rPr lang="en-US" sz="2000" dirty="0"/>
              <a:t>Incase a group member </a:t>
            </a:r>
            <a:r>
              <a:rPr lang="en-US" sz="2000" b="1" dirty="0"/>
              <a:t>fails to attend 75% of meeting</a:t>
            </a:r>
            <a:r>
              <a:rPr lang="en-US" sz="2000" dirty="0"/>
              <a:t>, he/she will automatically earn “F” grade.</a:t>
            </a:r>
          </a:p>
          <a:p>
            <a:pPr>
              <a:spcBef>
                <a:spcPts val="600"/>
              </a:spcBef>
              <a:spcAft>
                <a:spcPts val="2400"/>
              </a:spcAft>
            </a:pPr>
            <a:r>
              <a:rPr lang="en-US" sz="2000" dirty="0"/>
              <a:t>See Section 8.2 &amp; Section 8.2.1 of your Handbook</a:t>
            </a:r>
          </a:p>
        </p:txBody>
      </p:sp>
    </p:spTree>
    <p:extLst>
      <p:ext uri="{BB962C8B-B14F-4D97-AF65-F5344CB8AC3E}">
        <p14:creationId xmlns:p14="http://schemas.microsoft.com/office/powerpoint/2010/main" xmlns="" val="651384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Moellim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You are expected to </a:t>
            </a:r>
            <a:r>
              <a:rPr lang="en-US" sz="2000"/>
              <a:t>regularly check: </a:t>
            </a:r>
            <a:r>
              <a:rPr lang="en-US" sz="2000" dirty="0">
                <a:hlinkClick r:id="rId2"/>
              </a:rPr>
              <a:t>https://moellim.riphah.edu.pk/course/view.php?id</a:t>
            </a:r>
            <a:r>
              <a:rPr lang="en-US" sz="2000">
                <a:hlinkClick r:id="rId2"/>
              </a:rPr>
              <a:t>=7459</a:t>
            </a:r>
            <a:r>
              <a:rPr lang="en-US" sz="2000"/>
              <a:t> for</a:t>
            </a:r>
            <a:r>
              <a:rPr lang="en-US" sz="2000" dirty="0"/>
              <a:t>:</a:t>
            </a:r>
          </a:p>
          <a:p>
            <a:pPr lvl="1"/>
            <a:endParaRPr lang="en-US" sz="2400" dirty="0"/>
          </a:p>
          <a:p>
            <a:pPr lvl="1"/>
            <a:r>
              <a:rPr lang="en-US" sz="2000" dirty="0"/>
              <a:t>Supporting Material</a:t>
            </a:r>
          </a:p>
          <a:p>
            <a:pPr lvl="1"/>
            <a:r>
              <a:rPr lang="en-US" sz="2000" dirty="0"/>
              <a:t>Resources</a:t>
            </a:r>
          </a:p>
          <a:p>
            <a:pPr lvl="1"/>
            <a:r>
              <a:rPr lang="en-US" sz="2000" dirty="0"/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xmlns="" val="1815111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Plagiarism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000" dirty="0"/>
              <a:t>Any piece of code, framework or component developed by someone else that you are using in your project </a:t>
            </a:r>
            <a:r>
              <a:rPr lang="en-US" sz="2000" dirty="0">
                <a:solidFill>
                  <a:srgbClr val="3333FF"/>
                </a:solidFill>
              </a:rPr>
              <a:t>must be properly acknowledged / referenced </a:t>
            </a:r>
            <a:r>
              <a:rPr lang="en-US" sz="2000" dirty="0"/>
              <a:t>in your documentation.  </a:t>
            </a:r>
            <a:r>
              <a:rPr lang="en-US" sz="2000" b="1" dirty="0"/>
              <a:t>You cannot claim any such code , framework or component as your own</a:t>
            </a:r>
            <a:r>
              <a:rPr lang="en-US" sz="2000" dirty="0"/>
              <a:t>.  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000" dirty="0"/>
              <a:t>Your efforts will be </a:t>
            </a:r>
            <a:r>
              <a:rPr lang="en-US" sz="2000" dirty="0">
                <a:solidFill>
                  <a:srgbClr val="3333FF"/>
                </a:solidFill>
              </a:rPr>
              <a:t>evaluated by the amount of work you have done</a:t>
            </a:r>
            <a:r>
              <a:rPr lang="en-US" sz="2000" dirty="0"/>
              <a:t> yourself. You must write your own documentation and cannot copy from any other source.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000" dirty="0"/>
              <a:t>Incase a group is found to be involved in any kind of plagiarism, the group will automatically earn “F” grade.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000" dirty="0"/>
              <a:t>See Section 8.3 of your Handbook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937935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Assessment (Part 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3000"/>
              </a:spcAft>
              <a:buNone/>
            </a:pPr>
            <a:r>
              <a:rPr lang="en-US" sz="2000" dirty="0"/>
              <a:t>In the week immediately after finals you will make Progress Presentation (you will also show first five chapters of your report and your prototype) to Exam Committee.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dirty="0"/>
              <a:t>Evaluation Method: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50% by Exam Committee Average + 50% by Supervisor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Supervisor may evaluate each member of the project group individually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Decision of the Exam Committee and Supervisor will be final.</a:t>
            </a:r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en-US" sz="2000" dirty="0"/>
              <a:t>See Section 6.1 of your Handbook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2397290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Assessment (Part 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3000"/>
              </a:spcAft>
              <a:buNone/>
            </a:pPr>
            <a:r>
              <a:rPr lang="en-US" sz="2000" b="1" dirty="0"/>
              <a:t>For Example: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Average Marks by Faculty for the Group: </a:t>
            </a:r>
            <a:r>
              <a:rPr lang="en-US" sz="2000" dirty="0">
                <a:solidFill>
                  <a:srgbClr val="008000"/>
                </a:solidFill>
              </a:rPr>
              <a:t>68 (34 %)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Supervisor Marks for Student 1: </a:t>
            </a:r>
            <a:r>
              <a:rPr lang="en-US" sz="2000" dirty="0">
                <a:solidFill>
                  <a:srgbClr val="0033CC"/>
                </a:solidFill>
              </a:rPr>
              <a:t>76 (38%)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Supervisor Marks for Student 2: </a:t>
            </a:r>
            <a:r>
              <a:rPr lang="en-US" sz="2000" dirty="0">
                <a:solidFill>
                  <a:srgbClr val="0033CC"/>
                </a:solidFill>
              </a:rPr>
              <a:t>60 (30%)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Supervisor Marks for Student 3: </a:t>
            </a:r>
            <a:r>
              <a:rPr lang="en-US" sz="2000" dirty="0">
                <a:solidFill>
                  <a:srgbClr val="0033CC"/>
                </a:solidFill>
              </a:rPr>
              <a:t>92 (46%)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Student 1 Grade: </a:t>
            </a:r>
            <a:r>
              <a:rPr lang="en-US" sz="2000" dirty="0">
                <a:solidFill>
                  <a:srgbClr val="008000"/>
                </a:solidFill>
              </a:rPr>
              <a:t>34</a:t>
            </a:r>
            <a:r>
              <a:rPr lang="en-US" sz="2000" dirty="0"/>
              <a:t>+</a:t>
            </a:r>
            <a:r>
              <a:rPr lang="en-US" sz="2000" dirty="0">
                <a:solidFill>
                  <a:srgbClr val="0033CC"/>
                </a:solidFill>
              </a:rPr>
              <a:t>38</a:t>
            </a:r>
            <a:r>
              <a:rPr lang="en-US" sz="2000" dirty="0"/>
              <a:t> = </a:t>
            </a:r>
            <a:r>
              <a:rPr lang="en-US" sz="2000" b="1" dirty="0"/>
              <a:t>72% (B Grade)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Student 2 Grade: </a:t>
            </a:r>
            <a:r>
              <a:rPr lang="en-US" sz="2000" dirty="0">
                <a:solidFill>
                  <a:srgbClr val="008000"/>
                </a:solidFill>
              </a:rPr>
              <a:t>34</a:t>
            </a:r>
            <a:r>
              <a:rPr lang="en-US" sz="2000" dirty="0"/>
              <a:t>+</a:t>
            </a:r>
            <a:r>
              <a:rPr lang="en-US" sz="2000" dirty="0">
                <a:solidFill>
                  <a:srgbClr val="0033CC"/>
                </a:solidFill>
              </a:rPr>
              <a:t>30</a:t>
            </a:r>
            <a:r>
              <a:rPr lang="en-US" sz="2000" dirty="0"/>
              <a:t> = </a:t>
            </a:r>
            <a:r>
              <a:rPr lang="en-US" sz="2000" b="1" dirty="0"/>
              <a:t>64% (C Grade)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Student 3 Grade: </a:t>
            </a:r>
            <a:r>
              <a:rPr lang="en-US" sz="2000" dirty="0">
                <a:solidFill>
                  <a:srgbClr val="008000"/>
                </a:solidFill>
              </a:rPr>
              <a:t>34</a:t>
            </a:r>
            <a:r>
              <a:rPr lang="en-US" sz="2000" dirty="0"/>
              <a:t>+</a:t>
            </a:r>
            <a:r>
              <a:rPr lang="en-US" sz="2000" dirty="0">
                <a:solidFill>
                  <a:srgbClr val="0033CC"/>
                </a:solidFill>
              </a:rPr>
              <a:t>46</a:t>
            </a:r>
            <a:r>
              <a:rPr lang="en-US" sz="2000" dirty="0"/>
              <a:t> = </a:t>
            </a:r>
            <a:r>
              <a:rPr lang="en-US" sz="2000" b="1" dirty="0"/>
              <a:t>80% (A Grade)</a:t>
            </a:r>
          </a:p>
        </p:txBody>
      </p:sp>
    </p:spTree>
    <p:extLst>
      <p:ext uri="{BB962C8B-B14F-4D97-AF65-F5344CB8AC3E}">
        <p14:creationId xmlns:p14="http://schemas.microsoft.com/office/powerpoint/2010/main" xmlns="" val="1879774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Assessment (Part 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You will be required to participate in the </a:t>
            </a:r>
            <a:r>
              <a:rPr lang="en-US" sz="2000" dirty="0">
                <a:solidFill>
                  <a:srgbClr val="3333FF"/>
                </a:solidFill>
              </a:rPr>
              <a:t>Open House </a:t>
            </a:r>
            <a:r>
              <a:rPr lang="en-US" sz="2000" dirty="0"/>
              <a:t>(15</a:t>
            </a:r>
            <a:r>
              <a:rPr lang="en-US" sz="2000" baseline="30000" dirty="0"/>
              <a:t>th</a:t>
            </a:r>
            <a:r>
              <a:rPr lang="en-US" sz="2000" dirty="0"/>
              <a:t> Week of first semester) and showcase your Project Idea, Prototype, and Project Report. </a:t>
            </a:r>
          </a:p>
          <a:p>
            <a:pPr lvl="1">
              <a:spcBef>
                <a:spcPts val="0"/>
              </a:spcBef>
              <a:spcAft>
                <a:spcPts val="3000"/>
              </a:spcAft>
            </a:pPr>
            <a:r>
              <a:rPr lang="en-US" sz="1800" dirty="0"/>
              <a:t>Failure to participate will earn you </a:t>
            </a:r>
            <a:r>
              <a:rPr lang="en-US" sz="1800" b="1" dirty="0"/>
              <a:t>“F” grade</a:t>
            </a:r>
            <a:r>
              <a:rPr lang="en-US" sz="1800" dirty="0"/>
              <a:t> unless you have prior approval from both your supervisor and project coordinator.</a:t>
            </a:r>
          </a:p>
          <a:p>
            <a:pPr>
              <a:spcBef>
                <a:spcPts val="0"/>
              </a:spcBef>
              <a:spcAft>
                <a:spcPts val="3000"/>
              </a:spcAft>
            </a:pPr>
            <a:endParaRPr lang="en-US" sz="2200" dirty="0"/>
          </a:p>
          <a:p>
            <a:pPr>
              <a:spcBef>
                <a:spcPts val="0"/>
              </a:spcBef>
              <a:spcAft>
                <a:spcPts val="1800"/>
              </a:spcAft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784024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Assessment (Part 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You will present your project to the Examination Committee in 14</a:t>
            </a:r>
            <a:r>
              <a:rPr lang="en-US" sz="2000" baseline="30000" dirty="0"/>
              <a:t>th</a:t>
            </a:r>
            <a:r>
              <a:rPr lang="en-US" sz="2000" dirty="0"/>
              <a:t> week of the semester.</a:t>
            </a:r>
          </a:p>
          <a:p>
            <a:endParaRPr lang="en-US" sz="2000" dirty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dirty="0"/>
              <a:t>Evaluation Method: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50% by Exam Committee Average + 50% by Supervisor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Supervisor may evaluate each member of the project group individually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Decision of the Exam Committee and Supervisor will be final.</a:t>
            </a:r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en-US" sz="2000" dirty="0"/>
              <a:t>See Section 6.2 of your Handbook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346976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Assessment (Part 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The Examination Committee will evaluate your project based upon: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b="1" dirty="0"/>
              <a:t>Difficulty Level </a:t>
            </a:r>
            <a:r>
              <a:rPr lang="en-US" sz="2000" dirty="0"/>
              <a:t>(scope, complexity, creativity and amount of self-learning involved in the developing the final system) and 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b="1" dirty="0"/>
              <a:t>Quality</a:t>
            </a:r>
            <a:r>
              <a:rPr lang="en-US" sz="2000" dirty="0"/>
              <a:t> (presentation, usability, system design, documentation, and coding).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b="1" dirty="0"/>
              <a:t>Solution</a:t>
            </a:r>
            <a:r>
              <a:rPr lang="en-US" sz="2000" dirty="0"/>
              <a:t> (whether your software system actually provides the  solution to problem(s) of potential stakeholders).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3335053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SCHEDULE / DELIVERABLES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938879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Final Year Project </a:t>
            </a:r>
            <a:r>
              <a:rPr lang="en-US" dirty="0"/>
              <a:t>(Part I)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endParaRPr lang="en-US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000" b="1" dirty="0"/>
              <a:t>Course Registration: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You can register in </a:t>
            </a:r>
            <a:r>
              <a:rPr lang="en-US" sz="2000" dirty="0" smtClean="0"/>
              <a:t>FYP </a:t>
            </a:r>
            <a:r>
              <a:rPr lang="en-US" sz="2000" dirty="0"/>
              <a:t>if you have completed </a:t>
            </a:r>
            <a:r>
              <a:rPr lang="en-US" sz="2000" b="1" dirty="0"/>
              <a:t>at-least 100 credit hours</a:t>
            </a:r>
            <a:r>
              <a:rPr lang="en-US" sz="2000" dirty="0"/>
              <a:t> and are not under probation for </a:t>
            </a:r>
            <a:r>
              <a:rPr lang="en-US" sz="2000"/>
              <a:t>low </a:t>
            </a:r>
            <a:r>
              <a:rPr lang="en-US" sz="2000" smtClean="0"/>
              <a:t>CGPA.</a:t>
            </a:r>
            <a:endParaRPr lang="en-US" dirty="0"/>
          </a:p>
        </p:txBody>
      </p:sp>
      <p:sp>
        <p:nvSpPr>
          <p:cNvPr id="5" name="Down Arrow Callout 4"/>
          <p:cNvSpPr/>
          <p:nvPr/>
        </p:nvSpPr>
        <p:spPr>
          <a:xfrm>
            <a:off x="533400" y="1600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Registration</a:t>
            </a:r>
          </a:p>
        </p:txBody>
      </p:sp>
    </p:spTree>
    <p:extLst>
      <p:ext uri="{BB962C8B-B14F-4D97-AF65-F5344CB8AC3E}">
        <p14:creationId xmlns:p14="http://schemas.microsoft.com/office/powerpoint/2010/main" xmlns="" val="39274219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Final Year Project </a:t>
            </a:r>
            <a:r>
              <a:rPr lang="en-US" dirty="0"/>
              <a:t>(Part I)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endParaRPr lang="en-US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000" b="1" dirty="0"/>
              <a:t>Week 01:</a:t>
            </a:r>
            <a:endParaRPr lang="en-US" sz="2000" dirty="0"/>
          </a:p>
          <a:p>
            <a:r>
              <a:rPr lang="en-US" sz="2000" dirty="0"/>
              <a:t>You must attend Orientation Seminar.</a:t>
            </a:r>
          </a:p>
          <a:p>
            <a:endParaRPr lang="en-US" sz="2000" dirty="0"/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000" b="1" dirty="0"/>
              <a:t>Deliverable:</a:t>
            </a:r>
            <a:endParaRPr lang="en-US" sz="2000" dirty="0"/>
          </a:p>
          <a:p>
            <a:r>
              <a:rPr lang="en-US" sz="2000" dirty="0"/>
              <a:t>Submit Project Team List (Both HARD &amp; SOFT COPY - Use </a:t>
            </a:r>
            <a:r>
              <a:rPr lang="en-US" sz="2000" b="1" dirty="0"/>
              <a:t>Template-01</a:t>
            </a:r>
            <a:r>
              <a:rPr lang="en-US" sz="2000" dirty="0"/>
              <a:t> Submit Project Team List 01) to Project Coordinator and in VLE.</a:t>
            </a:r>
          </a:p>
          <a:p>
            <a:r>
              <a:rPr lang="en-US" sz="2000" b="1" dirty="0"/>
              <a:t>Due Date/Time: </a:t>
            </a:r>
            <a:r>
              <a:rPr lang="en-US" sz="2000" b="1" dirty="0" smtClean="0"/>
              <a:t>Friday </a:t>
            </a:r>
            <a:r>
              <a:rPr lang="en-US" sz="2000" b="1" dirty="0" smtClean="0"/>
              <a:t>day</a:t>
            </a:r>
            <a:r>
              <a:rPr lang="en-US" sz="2000" dirty="0" smtClean="0"/>
              <a:t>, </a:t>
            </a:r>
            <a:r>
              <a:rPr lang="en-US" sz="2000" dirty="0" smtClean="0"/>
              <a:t>29</a:t>
            </a:r>
            <a:r>
              <a:rPr lang="en-US" sz="2000" baseline="30000" dirty="0" smtClean="0"/>
              <a:t>th</a:t>
            </a:r>
            <a:r>
              <a:rPr lang="en-US" sz="2000" dirty="0" smtClean="0"/>
              <a:t> August </a:t>
            </a:r>
            <a:r>
              <a:rPr lang="en-US" sz="2000" dirty="0" smtClean="0"/>
              <a:t>2025 </a:t>
            </a:r>
            <a:r>
              <a:rPr lang="en-US" sz="2000" dirty="0"/>
              <a:t>- </a:t>
            </a:r>
            <a:r>
              <a:rPr lang="en-US" sz="2000" dirty="0" smtClean="0"/>
              <a:t>4:00PM</a:t>
            </a:r>
            <a:endParaRPr lang="en-US" dirty="0"/>
          </a:p>
        </p:txBody>
      </p:sp>
      <p:sp>
        <p:nvSpPr>
          <p:cNvPr id="5" name="Down Arrow Callout 4"/>
          <p:cNvSpPr/>
          <p:nvPr/>
        </p:nvSpPr>
        <p:spPr>
          <a:xfrm>
            <a:off x="533400" y="1600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Registration</a:t>
            </a:r>
          </a:p>
        </p:txBody>
      </p:sp>
      <p:sp>
        <p:nvSpPr>
          <p:cNvPr id="6" name="Down Arrow Callout 5"/>
          <p:cNvSpPr/>
          <p:nvPr/>
        </p:nvSpPr>
        <p:spPr>
          <a:xfrm>
            <a:off x="533400" y="2362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Orientation</a:t>
            </a:r>
          </a:p>
        </p:txBody>
      </p:sp>
    </p:spTree>
    <p:extLst>
      <p:ext uri="{BB962C8B-B14F-4D97-AF65-F5344CB8AC3E}">
        <p14:creationId xmlns:p14="http://schemas.microsoft.com/office/powerpoint/2010/main" xmlns="" val="18167630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Final Year Project </a:t>
            </a:r>
            <a:r>
              <a:rPr lang="en-US" dirty="0"/>
              <a:t>(Part I)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endParaRPr lang="en-US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000" b="1" dirty="0"/>
              <a:t>Week 02:</a:t>
            </a:r>
            <a:endParaRPr lang="en-US" sz="2000" dirty="0"/>
          </a:p>
          <a:p>
            <a:r>
              <a:rPr lang="en-US" sz="2000" dirty="0"/>
              <a:t>Develop Project Ideas; Confirm Supervisor.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000" b="1" dirty="0"/>
              <a:t>Deliverable:</a:t>
            </a:r>
            <a:endParaRPr lang="en-US" sz="2000" dirty="0"/>
          </a:p>
          <a:p>
            <a:r>
              <a:rPr lang="en-US" sz="2000" dirty="0"/>
              <a:t>Submit Initial Proposal (HARD COPY and soft copy - Use </a:t>
            </a:r>
            <a:r>
              <a:rPr lang="en-US" sz="2000" b="1" dirty="0"/>
              <a:t>Template-02</a:t>
            </a:r>
            <a:r>
              <a:rPr lang="en-US" sz="2000" dirty="0"/>
              <a:t>) signed by your supervisor to Project Coordinator.  </a:t>
            </a:r>
          </a:p>
          <a:p>
            <a:r>
              <a:rPr lang="en-US" sz="2000" b="1" dirty="0"/>
              <a:t>Due Date/Time: </a:t>
            </a:r>
            <a:r>
              <a:rPr lang="en-US" sz="2000" dirty="0" smtClean="0"/>
              <a:t>Friday</a:t>
            </a:r>
            <a:r>
              <a:rPr lang="en-US" sz="2000" dirty="0" smtClean="0"/>
              <a:t>, 05</a:t>
            </a:r>
            <a:r>
              <a:rPr lang="en-US" sz="2000" baseline="30000" dirty="0" smtClean="0"/>
              <a:t>th</a:t>
            </a:r>
            <a:r>
              <a:rPr lang="en-US" sz="2000" dirty="0" smtClean="0"/>
              <a:t> August </a:t>
            </a:r>
            <a:r>
              <a:rPr lang="en-US" sz="2000" dirty="0" smtClean="0"/>
              <a:t>2025 - 4:00PM</a:t>
            </a:r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own Arrow Callout 4"/>
          <p:cNvSpPr/>
          <p:nvPr/>
        </p:nvSpPr>
        <p:spPr>
          <a:xfrm>
            <a:off x="533400" y="1600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Registration</a:t>
            </a:r>
          </a:p>
        </p:txBody>
      </p:sp>
      <p:sp>
        <p:nvSpPr>
          <p:cNvPr id="6" name="Down Arrow Callout 5"/>
          <p:cNvSpPr/>
          <p:nvPr/>
        </p:nvSpPr>
        <p:spPr>
          <a:xfrm>
            <a:off x="533400" y="2362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Orientation</a:t>
            </a:r>
          </a:p>
        </p:txBody>
      </p:sp>
      <p:sp>
        <p:nvSpPr>
          <p:cNvPr id="7" name="Down Arrow Callout 6"/>
          <p:cNvSpPr/>
          <p:nvPr/>
        </p:nvSpPr>
        <p:spPr>
          <a:xfrm>
            <a:off x="533400" y="3124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 Idea &amp; Supervisor</a:t>
            </a:r>
          </a:p>
        </p:txBody>
      </p:sp>
    </p:spTree>
    <p:extLst>
      <p:ext uri="{BB962C8B-B14F-4D97-AF65-F5344CB8AC3E}">
        <p14:creationId xmlns:p14="http://schemas.microsoft.com/office/powerpoint/2010/main" xmlns="" val="19131186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Final Year Project </a:t>
            </a:r>
            <a:r>
              <a:rPr lang="en-US" dirty="0"/>
              <a:t>(Part I)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endParaRPr lang="en-US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000" b="1" dirty="0"/>
              <a:t>Week 04:</a:t>
            </a:r>
            <a:endParaRPr lang="en-US" sz="2000" dirty="0"/>
          </a:p>
          <a:p>
            <a:r>
              <a:rPr lang="en-US" sz="2000" dirty="0"/>
              <a:t>Present Project Proposal to entire faculty.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000" b="1" dirty="0"/>
              <a:t>Deliverable:</a:t>
            </a:r>
            <a:endParaRPr lang="en-US" sz="2000" dirty="0"/>
          </a:p>
          <a:p>
            <a:r>
              <a:rPr lang="en-US" sz="2000" dirty="0"/>
              <a:t>Submit Project Proposal Presentation (SOFT COPY - Use </a:t>
            </a:r>
            <a:r>
              <a:rPr lang="en-US" sz="2000" b="1" dirty="0"/>
              <a:t>Template-03</a:t>
            </a:r>
            <a:r>
              <a:rPr lang="en-US" sz="2000" dirty="0"/>
              <a:t>) in </a:t>
            </a:r>
            <a:r>
              <a:rPr lang="en-US" sz="2000" dirty="0" smtClean="0"/>
              <a:t>moellim</a:t>
            </a:r>
            <a:endParaRPr lang="en-US" sz="2000" dirty="0"/>
          </a:p>
          <a:p>
            <a:r>
              <a:rPr lang="en-US" sz="2000" dirty="0"/>
              <a:t>Schedule &amp; Deliver Presentation to Faculty</a:t>
            </a:r>
          </a:p>
        </p:txBody>
      </p:sp>
      <p:sp>
        <p:nvSpPr>
          <p:cNvPr id="5" name="Down Arrow Callout 4"/>
          <p:cNvSpPr/>
          <p:nvPr/>
        </p:nvSpPr>
        <p:spPr>
          <a:xfrm>
            <a:off x="533400" y="1600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Registration</a:t>
            </a:r>
          </a:p>
        </p:txBody>
      </p:sp>
      <p:sp>
        <p:nvSpPr>
          <p:cNvPr id="6" name="Down Arrow Callout 5"/>
          <p:cNvSpPr/>
          <p:nvPr/>
        </p:nvSpPr>
        <p:spPr>
          <a:xfrm>
            <a:off x="533400" y="2362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Orientation</a:t>
            </a:r>
          </a:p>
        </p:txBody>
      </p:sp>
      <p:sp>
        <p:nvSpPr>
          <p:cNvPr id="7" name="Down Arrow Callout 6"/>
          <p:cNvSpPr/>
          <p:nvPr/>
        </p:nvSpPr>
        <p:spPr>
          <a:xfrm>
            <a:off x="533400" y="3124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 Idea &amp; Supervisor</a:t>
            </a:r>
          </a:p>
        </p:txBody>
      </p:sp>
      <p:sp>
        <p:nvSpPr>
          <p:cNvPr id="8" name="Down Arrow Callout 7"/>
          <p:cNvSpPr/>
          <p:nvPr/>
        </p:nvSpPr>
        <p:spPr>
          <a:xfrm>
            <a:off x="533400" y="3886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 Proposal Presentation</a:t>
            </a:r>
          </a:p>
        </p:txBody>
      </p:sp>
    </p:spTree>
    <p:extLst>
      <p:ext uri="{BB962C8B-B14F-4D97-AF65-F5344CB8AC3E}">
        <p14:creationId xmlns:p14="http://schemas.microsoft.com/office/powerpoint/2010/main" xmlns="" val="30522188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Final Year Project </a:t>
            </a:r>
            <a:r>
              <a:rPr lang="en-US" dirty="0"/>
              <a:t>(Part I)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endParaRPr lang="en-US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000" b="1" dirty="0"/>
              <a:t>Week 06:</a:t>
            </a:r>
            <a:endParaRPr lang="en-US" sz="2000" dirty="0"/>
          </a:p>
          <a:p>
            <a:r>
              <a:rPr lang="en-US" sz="2000" dirty="0"/>
              <a:t>Finalize Project Proposal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000" b="1" dirty="0"/>
              <a:t>Deliverable:</a:t>
            </a:r>
            <a:endParaRPr lang="en-US" sz="2000" dirty="0"/>
          </a:p>
          <a:p>
            <a:r>
              <a:rPr lang="en-US" sz="2000" dirty="0"/>
              <a:t>Submit Project Proposal &amp; Plan (Both SOFT &amp; HARD COPY - Use </a:t>
            </a:r>
            <a:r>
              <a:rPr lang="en-US" sz="2000" b="1" dirty="0"/>
              <a:t>Template-04</a:t>
            </a:r>
            <a:r>
              <a:rPr lang="en-US" sz="2000" dirty="0"/>
              <a:t>)</a:t>
            </a:r>
          </a:p>
        </p:txBody>
      </p:sp>
      <p:sp>
        <p:nvSpPr>
          <p:cNvPr id="5" name="Down Arrow Callout 4"/>
          <p:cNvSpPr/>
          <p:nvPr/>
        </p:nvSpPr>
        <p:spPr>
          <a:xfrm>
            <a:off x="533400" y="1600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Registration</a:t>
            </a:r>
          </a:p>
        </p:txBody>
      </p:sp>
      <p:sp>
        <p:nvSpPr>
          <p:cNvPr id="6" name="Down Arrow Callout 5"/>
          <p:cNvSpPr/>
          <p:nvPr/>
        </p:nvSpPr>
        <p:spPr>
          <a:xfrm>
            <a:off x="533400" y="2362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Orientation</a:t>
            </a:r>
          </a:p>
        </p:txBody>
      </p:sp>
      <p:sp>
        <p:nvSpPr>
          <p:cNvPr id="7" name="Down Arrow Callout 6"/>
          <p:cNvSpPr/>
          <p:nvPr/>
        </p:nvSpPr>
        <p:spPr>
          <a:xfrm>
            <a:off x="533400" y="3124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 Idea &amp; Supervisor</a:t>
            </a:r>
          </a:p>
        </p:txBody>
      </p:sp>
      <p:sp>
        <p:nvSpPr>
          <p:cNvPr id="8" name="Down Arrow Callout 7"/>
          <p:cNvSpPr/>
          <p:nvPr/>
        </p:nvSpPr>
        <p:spPr>
          <a:xfrm>
            <a:off x="533400" y="3886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 Proposal Presentation</a:t>
            </a:r>
          </a:p>
        </p:txBody>
      </p:sp>
      <p:sp>
        <p:nvSpPr>
          <p:cNvPr id="9" name="Down Arrow Callout 8"/>
          <p:cNvSpPr/>
          <p:nvPr/>
        </p:nvSpPr>
        <p:spPr>
          <a:xfrm>
            <a:off x="533400" y="4648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Finalize Project Proposal</a:t>
            </a:r>
          </a:p>
        </p:txBody>
      </p:sp>
    </p:spTree>
    <p:extLst>
      <p:ext uri="{BB962C8B-B14F-4D97-AF65-F5344CB8AC3E}">
        <p14:creationId xmlns:p14="http://schemas.microsoft.com/office/powerpoint/2010/main" xmlns="" val="14083441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Final Year Project </a:t>
            </a:r>
            <a:r>
              <a:rPr lang="en-US" dirty="0"/>
              <a:t>(Part I)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endParaRPr lang="en-US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000" b="1" dirty="0"/>
              <a:t>Week 15:</a:t>
            </a:r>
            <a:endParaRPr lang="en-US" sz="2000" dirty="0"/>
          </a:p>
          <a:p>
            <a:r>
              <a:rPr lang="en-US" sz="2000" dirty="0"/>
              <a:t>Participate in Open House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000" b="1" dirty="0"/>
              <a:t>Deliverable:</a:t>
            </a:r>
            <a:endParaRPr lang="en-US" sz="2000" dirty="0"/>
          </a:p>
          <a:p>
            <a:r>
              <a:rPr lang="en-US" sz="2000" dirty="0"/>
              <a:t>Banners, Brochure, Story Board, Prototype, Project Report</a:t>
            </a:r>
          </a:p>
        </p:txBody>
      </p:sp>
      <p:sp>
        <p:nvSpPr>
          <p:cNvPr id="5" name="Down Arrow Callout 4"/>
          <p:cNvSpPr/>
          <p:nvPr/>
        </p:nvSpPr>
        <p:spPr>
          <a:xfrm>
            <a:off x="533400" y="1600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Registration</a:t>
            </a:r>
          </a:p>
        </p:txBody>
      </p:sp>
      <p:sp>
        <p:nvSpPr>
          <p:cNvPr id="6" name="Down Arrow Callout 5"/>
          <p:cNvSpPr/>
          <p:nvPr/>
        </p:nvSpPr>
        <p:spPr>
          <a:xfrm>
            <a:off x="533400" y="2362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Orientation</a:t>
            </a:r>
          </a:p>
        </p:txBody>
      </p:sp>
      <p:sp>
        <p:nvSpPr>
          <p:cNvPr id="7" name="Down Arrow Callout 6"/>
          <p:cNvSpPr/>
          <p:nvPr/>
        </p:nvSpPr>
        <p:spPr>
          <a:xfrm>
            <a:off x="533400" y="3124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 Idea &amp; Supervisor</a:t>
            </a:r>
          </a:p>
        </p:txBody>
      </p:sp>
      <p:sp>
        <p:nvSpPr>
          <p:cNvPr id="8" name="Down Arrow Callout 7"/>
          <p:cNvSpPr/>
          <p:nvPr/>
        </p:nvSpPr>
        <p:spPr>
          <a:xfrm>
            <a:off x="533400" y="3886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 Proposal Presentation</a:t>
            </a:r>
          </a:p>
        </p:txBody>
      </p:sp>
      <p:sp>
        <p:nvSpPr>
          <p:cNvPr id="9" name="Down Arrow Callout 8"/>
          <p:cNvSpPr/>
          <p:nvPr/>
        </p:nvSpPr>
        <p:spPr>
          <a:xfrm>
            <a:off x="533400" y="4648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Finalize Project Proposal</a:t>
            </a:r>
          </a:p>
        </p:txBody>
      </p:sp>
      <p:sp>
        <p:nvSpPr>
          <p:cNvPr id="10" name="Down Arrow Callout 9"/>
          <p:cNvSpPr/>
          <p:nvPr/>
        </p:nvSpPr>
        <p:spPr>
          <a:xfrm>
            <a:off x="533400" y="5410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Open House</a:t>
            </a:r>
          </a:p>
        </p:txBody>
      </p:sp>
    </p:spTree>
    <p:extLst>
      <p:ext uri="{BB962C8B-B14F-4D97-AF65-F5344CB8AC3E}">
        <p14:creationId xmlns:p14="http://schemas.microsoft.com/office/powerpoint/2010/main" xmlns="" val="34930696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Final Year Project </a:t>
            </a:r>
            <a:r>
              <a:rPr lang="en-US" dirty="0"/>
              <a:t>(Part I)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endParaRPr lang="en-US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000" b="1" dirty="0"/>
              <a:t>Week Immediately After Finals:</a:t>
            </a:r>
            <a:endParaRPr lang="en-US" sz="2000" dirty="0"/>
          </a:p>
          <a:p>
            <a:r>
              <a:rPr lang="en-US" sz="2000" dirty="0"/>
              <a:t>Present Progress to Exam Committee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000" b="1" dirty="0"/>
              <a:t>Deliverable:</a:t>
            </a:r>
            <a:endParaRPr lang="en-US" sz="2000" dirty="0"/>
          </a:p>
          <a:p>
            <a:r>
              <a:rPr lang="en-US" sz="2000" dirty="0"/>
              <a:t>Presentation (Use </a:t>
            </a:r>
            <a:r>
              <a:rPr lang="en-US" sz="2000" b="1" dirty="0"/>
              <a:t>Template-07</a:t>
            </a:r>
            <a:r>
              <a:rPr lang="en-US" sz="2000" dirty="0"/>
              <a:t>), </a:t>
            </a:r>
            <a:r>
              <a:rPr lang="en-US" sz="2000" b="1" dirty="0"/>
              <a:t>Prototype</a:t>
            </a:r>
            <a:r>
              <a:rPr lang="en-US" sz="2000" dirty="0"/>
              <a:t>, Project Report (SOFT COPY - First 5 Chapters – Use </a:t>
            </a:r>
            <a:r>
              <a:rPr lang="en-US" sz="2000" b="1" dirty="0"/>
              <a:t>Template-05</a:t>
            </a:r>
            <a:r>
              <a:rPr lang="en-US" sz="2000" dirty="0"/>
              <a:t>)</a:t>
            </a:r>
          </a:p>
        </p:txBody>
      </p:sp>
      <p:sp>
        <p:nvSpPr>
          <p:cNvPr id="5" name="Down Arrow Callout 4"/>
          <p:cNvSpPr/>
          <p:nvPr/>
        </p:nvSpPr>
        <p:spPr>
          <a:xfrm>
            <a:off x="533400" y="1600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Registration</a:t>
            </a:r>
          </a:p>
        </p:txBody>
      </p:sp>
      <p:sp>
        <p:nvSpPr>
          <p:cNvPr id="6" name="Down Arrow Callout 5"/>
          <p:cNvSpPr/>
          <p:nvPr/>
        </p:nvSpPr>
        <p:spPr>
          <a:xfrm>
            <a:off x="533400" y="2362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Orientation</a:t>
            </a:r>
          </a:p>
        </p:txBody>
      </p:sp>
      <p:sp>
        <p:nvSpPr>
          <p:cNvPr id="7" name="Down Arrow Callout 6"/>
          <p:cNvSpPr/>
          <p:nvPr/>
        </p:nvSpPr>
        <p:spPr>
          <a:xfrm>
            <a:off x="533400" y="3124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 Idea &amp; Supervisor</a:t>
            </a:r>
          </a:p>
        </p:txBody>
      </p:sp>
      <p:sp>
        <p:nvSpPr>
          <p:cNvPr id="8" name="Down Arrow Callout 7"/>
          <p:cNvSpPr/>
          <p:nvPr/>
        </p:nvSpPr>
        <p:spPr>
          <a:xfrm>
            <a:off x="533400" y="3886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 Proposal Presentation</a:t>
            </a:r>
          </a:p>
        </p:txBody>
      </p:sp>
      <p:sp>
        <p:nvSpPr>
          <p:cNvPr id="9" name="Down Arrow Callout 8"/>
          <p:cNvSpPr/>
          <p:nvPr/>
        </p:nvSpPr>
        <p:spPr>
          <a:xfrm>
            <a:off x="533400" y="4648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Finalize Project Proposal</a:t>
            </a:r>
          </a:p>
        </p:txBody>
      </p:sp>
      <p:sp>
        <p:nvSpPr>
          <p:cNvPr id="10" name="Down Arrow Callout 9"/>
          <p:cNvSpPr/>
          <p:nvPr/>
        </p:nvSpPr>
        <p:spPr>
          <a:xfrm>
            <a:off x="533400" y="5410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Open House</a:t>
            </a:r>
          </a:p>
        </p:txBody>
      </p:sp>
      <p:sp>
        <p:nvSpPr>
          <p:cNvPr id="11" name="Down Arrow Callout 10"/>
          <p:cNvSpPr/>
          <p:nvPr/>
        </p:nvSpPr>
        <p:spPr>
          <a:xfrm>
            <a:off x="533400" y="6172200"/>
            <a:ext cx="3962400" cy="685800"/>
          </a:xfrm>
          <a:prstGeom prst="downArrowCallout">
            <a:avLst>
              <a:gd name="adj1" fmla="val 25000"/>
              <a:gd name="adj2" fmla="val 0"/>
              <a:gd name="adj3" fmla="val 25000"/>
              <a:gd name="adj4" fmla="val 6497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Progress Review</a:t>
            </a:r>
          </a:p>
        </p:txBody>
      </p:sp>
    </p:spTree>
    <p:extLst>
      <p:ext uri="{BB962C8B-B14F-4D97-AF65-F5344CB8AC3E}">
        <p14:creationId xmlns:p14="http://schemas.microsoft.com/office/powerpoint/2010/main" xmlns="" val="41661379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Year Project </a:t>
            </a:r>
            <a:r>
              <a:rPr lang="en-US" dirty="0"/>
              <a:t>(Part I)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85800" y="1371598"/>
          <a:ext cx="7924800" cy="5242577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11436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7180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9126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31810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9748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Deadline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Milestone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Submit To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Notes / Actions / Deliverables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1500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Week 1</a:t>
                      </a:r>
                      <a:endParaRPr lang="en-US" sz="2400" b="1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/>
                        <a:t>Attend Orientation Seminar.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/>
                        <a:t>Project Coordinator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400" dirty="0"/>
                        <a:t>Submit Project Team List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(Both SOFT</a:t>
                      </a:r>
                      <a:r>
                        <a:rPr lang="en-US" sz="1400" baseline="0" dirty="0"/>
                        <a:t> &amp; </a:t>
                      </a:r>
                      <a:r>
                        <a:rPr lang="en-US" sz="1400" dirty="0"/>
                        <a:t>HARD COPY - Use </a:t>
                      </a:r>
                      <a:r>
                        <a:rPr lang="en-US" sz="1400" b="1" dirty="0"/>
                        <a:t>Template-01</a:t>
                      </a:r>
                      <a:r>
                        <a:rPr lang="en-US" sz="1400" dirty="0"/>
                        <a:t>)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3025" marR="73025" marT="73025" marB="73025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5669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Week 2</a:t>
                      </a:r>
                      <a:endParaRPr lang="en-US" sz="2400" b="1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/>
                        <a:t>Develop Project Ideas; Find a Supervisor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/>
                        <a:t>Project Coordinator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400" dirty="0"/>
                        <a:t>Submit Initial Proposal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(HARD COPY - Use </a:t>
                      </a:r>
                      <a:r>
                        <a:rPr lang="en-US" sz="1400" b="1" dirty="0"/>
                        <a:t>Template-02</a:t>
                      </a:r>
                      <a:r>
                        <a:rPr lang="en-US" sz="1400" dirty="0"/>
                        <a:t>)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3025" marR="73025" marT="73025" marB="73025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1500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Week 4</a:t>
                      </a:r>
                      <a:endParaRPr lang="en-US" sz="2400" b="1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/>
                        <a:t>Defend Proposal 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+mn-lt"/>
                          <a:ea typeface="+mn-ea"/>
                        </a:rPr>
                        <a:t>Entire</a:t>
                      </a:r>
                      <a:r>
                        <a:rPr lang="en-US" sz="1400" baseline="0" dirty="0">
                          <a:latin typeface="+mn-lt"/>
                          <a:ea typeface="+mn-ea"/>
                        </a:rPr>
                        <a:t> Faculty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400" dirty="0"/>
                        <a:t>Project Proposal Presentation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(SOFT COPY - Use </a:t>
                      </a:r>
                      <a:r>
                        <a:rPr lang="en-US" sz="1400" b="1" dirty="0"/>
                        <a:t>Template-03</a:t>
                      </a:r>
                      <a:r>
                        <a:rPr lang="en-US" sz="1400" dirty="0"/>
                        <a:t>)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3025" marR="73025" marT="73025" marB="73025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1500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Week 6</a:t>
                      </a:r>
                      <a:endParaRPr lang="en-US" sz="2400" b="1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/>
                        <a:t>Finalize Project Proposal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/>
                        <a:t>Project Coordinator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400" dirty="0"/>
                        <a:t>Submit Project Proposal &amp; Plan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(Both SOFT</a:t>
                      </a:r>
                      <a:r>
                        <a:rPr lang="en-US" sz="1400" baseline="0" dirty="0"/>
                        <a:t> &amp; </a:t>
                      </a:r>
                      <a:r>
                        <a:rPr lang="en-US" sz="1400" dirty="0"/>
                        <a:t>HARD COPY - Use </a:t>
                      </a:r>
                      <a:r>
                        <a:rPr lang="en-US" sz="1400" b="1" dirty="0"/>
                        <a:t>Template-04</a:t>
                      </a:r>
                      <a:r>
                        <a:rPr lang="en-US" sz="1400" dirty="0"/>
                        <a:t>)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3025" marR="73025" marT="73025" marB="73025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1500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Week 15</a:t>
                      </a:r>
                      <a:endParaRPr lang="en-US" sz="2400" b="1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/>
                        <a:t>Open House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/>
                        <a:t>Industry, Faculty &amp; Students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400" dirty="0"/>
                        <a:t>Banners, Posters, Brochure, Story Board, Prototype, Project Report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3025" marR="73025" marT="73025" marB="73025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71500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/>
                        <a:t>Immediately After Finals</a:t>
                      </a:r>
                      <a:endParaRPr lang="en-US" sz="2000" b="1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/>
                        <a:t>Progress Presentation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/>
                        <a:t>/ Assessment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Exam Committee /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Supervisor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400" dirty="0"/>
                        <a:t>Presentation (Use </a:t>
                      </a:r>
                      <a:r>
                        <a:rPr lang="en-US" sz="1400" b="1" dirty="0"/>
                        <a:t>Template-07</a:t>
                      </a:r>
                      <a:r>
                        <a:rPr lang="en-US" sz="1400" dirty="0"/>
                        <a:t>), Prototype, Project Report (SOFT COPY - First 5 Chapters – Use </a:t>
                      </a:r>
                      <a:r>
                        <a:rPr lang="en-US" sz="1400" b="1" dirty="0"/>
                        <a:t>Template-05</a:t>
                      </a:r>
                      <a:r>
                        <a:rPr lang="en-US" sz="1400" dirty="0"/>
                        <a:t>)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3025" marR="73025" marT="73025" marB="73025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3174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19141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Year Project </a:t>
            </a:r>
            <a:r>
              <a:rPr lang="en-US" dirty="0"/>
              <a:t>(Part II)</a:t>
            </a:r>
          </a:p>
        </p:txBody>
      </p:sp>
      <p:sp>
        <p:nvSpPr>
          <p:cNvPr id="3174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85800" y="1447800"/>
          <a:ext cx="8001000" cy="4953000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115461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8884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5714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8799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Deadline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Milestone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Submit To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Notes / Actions / Deliverables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0136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Week 13</a:t>
                      </a:r>
                      <a:endParaRPr lang="en-US" sz="2400" b="1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/>
                        <a:t>Submit Report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/>
                        <a:t>Project Coordinator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400" dirty="0"/>
                        <a:t>Complete Project Report (SOFT COPY – Use </a:t>
                      </a:r>
                      <a:r>
                        <a:rPr lang="en-US" sz="1400" b="1" dirty="0"/>
                        <a:t>Template-05</a:t>
                      </a:r>
                      <a:r>
                        <a:rPr lang="en-US" sz="1400" dirty="0"/>
                        <a:t>)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3025" marR="73025" marT="73025" marB="73025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3844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Week 14</a:t>
                      </a:r>
                      <a:endParaRPr lang="en-US" sz="2400" b="1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/>
                        <a:t>Final Evaluation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/>
                        <a:t>Exam Committee / Supervisor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400" dirty="0"/>
                        <a:t>Final Presentation (Use </a:t>
                      </a:r>
                      <a:r>
                        <a:rPr lang="en-US" sz="1400" b="1" dirty="0"/>
                        <a:t>Template-06</a:t>
                      </a:r>
                      <a:r>
                        <a:rPr lang="en-US" sz="1400" dirty="0"/>
                        <a:t>)</a:t>
                      </a:r>
                      <a:endParaRPr lang="en-US" sz="1800" dirty="0"/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400" dirty="0"/>
                        <a:t>Full Working Demo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3025" marR="73025" marT="73025" marB="73025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41260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Week  15</a:t>
                      </a:r>
                      <a:endParaRPr lang="en-US" sz="2400" b="1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/>
                        <a:t>Open House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/>
                        <a:t>Industry, Faculty &amp; Students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400" dirty="0"/>
                        <a:t>Banners, Posters, Brochure, Project Report</a:t>
                      </a:r>
                      <a:endParaRPr lang="en-US" sz="1800" dirty="0"/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400" dirty="0"/>
                        <a:t>Final Presentation (Use </a:t>
                      </a:r>
                      <a:r>
                        <a:rPr lang="en-US" sz="1400" b="1" dirty="0"/>
                        <a:t>Template-06</a:t>
                      </a:r>
                      <a:r>
                        <a:rPr lang="en-US" sz="1400" dirty="0"/>
                        <a:t>)</a:t>
                      </a:r>
                      <a:endParaRPr lang="en-US" sz="1800" dirty="0"/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400" b="1" dirty="0"/>
                        <a:t>Full Working Demo</a:t>
                      </a:r>
                      <a:endParaRPr lang="en-US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3025" marR="73025" marT="73025" marB="73025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41260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Week 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After Finals</a:t>
                      </a:r>
                      <a:endParaRPr lang="en-US" sz="2400" b="1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/>
                        <a:t>Submit Project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/>
                        <a:t>Program </a:t>
                      </a:r>
                      <a:r>
                        <a:rPr lang="en-US" sz="1400" dirty="0"/>
                        <a:t>Coordinator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400" dirty="0"/>
                        <a:t>Documentation (Hard Binding – 3 Copies)</a:t>
                      </a:r>
                      <a:endParaRPr lang="en-US" sz="1800" dirty="0"/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400" dirty="0"/>
                        <a:t>CD (Including Software – Source Code, Appendix in PDF </a:t>
                      </a:r>
                      <a:r>
                        <a:rPr lang="en-US" sz="1400" dirty="0" smtClean="0"/>
                        <a:t>Format</a:t>
                      </a:r>
                      <a:r>
                        <a:rPr lang="en-US" sz="1400" dirty="0"/>
                        <a:t>)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3025" marR="73025" marT="73025" marB="73025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53249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916161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>
              <a:spcAft>
                <a:spcPts val="2400"/>
              </a:spcAft>
            </a:pPr>
            <a:r>
              <a:rPr lang="en-US" sz="2000" dirty="0"/>
              <a:t>Template-01: </a:t>
            </a:r>
            <a:r>
              <a:rPr lang="en-US" sz="2000" dirty="0">
                <a:solidFill>
                  <a:srgbClr val="3333FF"/>
                </a:solidFill>
              </a:rPr>
              <a:t>Project Team</a:t>
            </a:r>
            <a:r>
              <a:rPr lang="en-US" sz="2000" dirty="0"/>
              <a:t> (MS Word)</a:t>
            </a:r>
          </a:p>
          <a:p>
            <a:pPr lvl="0">
              <a:spcAft>
                <a:spcPts val="2400"/>
              </a:spcAft>
            </a:pPr>
            <a:r>
              <a:rPr lang="en-US" sz="2000" dirty="0"/>
              <a:t>Template-02: </a:t>
            </a:r>
            <a:r>
              <a:rPr lang="en-US" sz="2000" dirty="0">
                <a:solidFill>
                  <a:srgbClr val="3333FF"/>
                </a:solidFill>
              </a:rPr>
              <a:t>Initial Proposal </a:t>
            </a:r>
            <a:r>
              <a:rPr lang="en-US" sz="2000" dirty="0"/>
              <a:t>(MS Word)</a:t>
            </a:r>
          </a:p>
          <a:p>
            <a:pPr lvl="0">
              <a:spcAft>
                <a:spcPts val="2400"/>
              </a:spcAft>
            </a:pPr>
            <a:r>
              <a:rPr lang="en-US" sz="2000" dirty="0"/>
              <a:t>Template-03: </a:t>
            </a:r>
            <a:r>
              <a:rPr lang="en-US" sz="2000" dirty="0">
                <a:solidFill>
                  <a:srgbClr val="3333FF"/>
                </a:solidFill>
              </a:rPr>
              <a:t>Proposal Presentation </a:t>
            </a:r>
            <a:r>
              <a:rPr lang="en-US" sz="2000" dirty="0"/>
              <a:t>(MS PowerPoint)</a:t>
            </a:r>
          </a:p>
          <a:p>
            <a:pPr lvl="0">
              <a:spcAft>
                <a:spcPts val="2400"/>
              </a:spcAft>
            </a:pPr>
            <a:r>
              <a:rPr lang="en-US" sz="2000" dirty="0"/>
              <a:t>Template-04: </a:t>
            </a:r>
            <a:r>
              <a:rPr lang="en-US" sz="2000" dirty="0">
                <a:solidFill>
                  <a:srgbClr val="3333FF"/>
                </a:solidFill>
              </a:rPr>
              <a:t>Proposal &amp; Plan </a:t>
            </a:r>
            <a:r>
              <a:rPr lang="en-US" sz="2000" dirty="0"/>
              <a:t>(MS Word) </a:t>
            </a:r>
          </a:p>
          <a:p>
            <a:pPr lvl="0">
              <a:spcAft>
                <a:spcPts val="2400"/>
              </a:spcAft>
            </a:pPr>
            <a:r>
              <a:rPr lang="en-US" sz="2000" dirty="0"/>
              <a:t>Template-05: </a:t>
            </a:r>
            <a:r>
              <a:rPr lang="en-US" sz="2000" dirty="0">
                <a:solidFill>
                  <a:srgbClr val="3333FF"/>
                </a:solidFill>
              </a:rPr>
              <a:t>Project Report </a:t>
            </a:r>
            <a:r>
              <a:rPr lang="en-US" sz="2000" dirty="0"/>
              <a:t>(MS Word) </a:t>
            </a:r>
            <a:r>
              <a:rPr lang="en-US" sz="2000" b="1" dirty="0"/>
              <a:t>(Include Chapter Number 6 of Testing and Evaluation which includes (Test Case Design)).</a:t>
            </a:r>
          </a:p>
          <a:p>
            <a:pPr lvl="0">
              <a:spcAft>
                <a:spcPts val="2400"/>
              </a:spcAft>
            </a:pPr>
            <a:r>
              <a:rPr lang="en-US" sz="2000" dirty="0"/>
              <a:t>Template-06: </a:t>
            </a:r>
            <a:r>
              <a:rPr lang="en-US" sz="2000" dirty="0">
                <a:solidFill>
                  <a:srgbClr val="3333FF"/>
                </a:solidFill>
              </a:rPr>
              <a:t>Final Presentation </a:t>
            </a:r>
            <a:r>
              <a:rPr lang="en-US" sz="2000" dirty="0"/>
              <a:t>(MS PowerPoint)</a:t>
            </a:r>
          </a:p>
          <a:p>
            <a:pPr>
              <a:spcAft>
                <a:spcPts val="2400"/>
              </a:spcAft>
            </a:pPr>
            <a:r>
              <a:rPr lang="en-US" sz="2000" dirty="0"/>
              <a:t>Template-07: </a:t>
            </a:r>
            <a:r>
              <a:rPr lang="en-US" sz="2000" dirty="0">
                <a:solidFill>
                  <a:srgbClr val="3333FF"/>
                </a:solidFill>
              </a:rPr>
              <a:t>Progress Presentation </a:t>
            </a:r>
            <a:r>
              <a:rPr lang="en-US" sz="2000" dirty="0"/>
              <a:t>(MS PowerPoint)</a:t>
            </a:r>
          </a:p>
          <a:p>
            <a:pPr lvl="0">
              <a:spcAft>
                <a:spcPts val="2400"/>
              </a:spcAft>
            </a:pPr>
            <a:endParaRPr lang="en-US" sz="20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9459382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You must exactly follow template </a:t>
            </a:r>
            <a:r>
              <a:rPr lang="en-US" sz="2000" b="1" dirty="0">
                <a:solidFill>
                  <a:srgbClr val="0033CC"/>
                </a:solidFill>
              </a:rPr>
              <a:t>formats</a:t>
            </a:r>
            <a:r>
              <a:rPr lang="en-US" sz="2000" dirty="0">
                <a:solidFill>
                  <a:srgbClr val="3333FF"/>
                </a:solidFill>
              </a:rPr>
              <a:t> </a:t>
            </a:r>
            <a:r>
              <a:rPr lang="en-US" sz="2000" dirty="0"/>
              <a:t>in all documents.</a:t>
            </a:r>
          </a:p>
          <a:p>
            <a:pPr lvl="0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No deliverable will be accepted if they don’t comply to the formatting guidelines.</a:t>
            </a:r>
          </a:p>
          <a:p>
            <a:pPr lvl="0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All SOFT copies must be uploaded on VLE in </a:t>
            </a:r>
            <a:r>
              <a:rPr lang="en-US" sz="2000" b="1" dirty="0">
                <a:solidFill>
                  <a:srgbClr val="0033CC"/>
                </a:solidFill>
              </a:rPr>
              <a:t>PDF file format</a:t>
            </a:r>
          </a:p>
        </p:txBody>
      </p:sp>
    </p:spTree>
    <p:extLst>
      <p:ext uri="{BB962C8B-B14F-4D97-AF65-F5344CB8AC3E}">
        <p14:creationId xmlns:p14="http://schemas.microsoft.com/office/powerpoint/2010/main" xmlns="" val="23967031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400" dirty="0" smtClean="0"/>
              <a:t>Opportunity &amp; Stakeholders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400" dirty="0" smtClean="0"/>
              <a:t>Existing Systems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400" dirty="0" smtClean="0"/>
              <a:t>Problem Statement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400" dirty="0" smtClean="0"/>
              <a:t>Proposed Solution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400" dirty="0" smtClean="0"/>
              <a:t>Project Scope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1062250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Presentation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7B2AC92-7444-4553-B9BE-C63244426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447800"/>
            <a:ext cx="4038600" cy="4876800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Problem (Opportunity &amp; Stakeholders) 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Solution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Progress Report Summary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1800" dirty="0"/>
              <a:t>Requirements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Software System (Design + Implementation + Testing)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Endeavour (Team + Work + Way of Working)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Next Steps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 smtClean="0"/>
              <a:t>Working Prototype 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 smtClean="0"/>
              <a:t>Report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4109661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Handbook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419600" y="1600200"/>
            <a:ext cx="4267200" cy="4525963"/>
          </a:xfrm>
        </p:spPr>
        <p:txBody>
          <a:bodyPr/>
          <a:lstStyle/>
          <a:p>
            <a:pPr>
              <a:spcAft>
                <a:spcPts val="3000"/>
              </a:spcAft>
            </a:pPr>
            <a:r>
              <a:rPr lang="en-US" sz="2000" dirty="0"/>
              <a:t>Handbook should be studied carefully. </a:t>
            </a:r>
          </a:p>
          <a:p>
            <a:pPr>
              <a:spcAft>
                <a:spcPts val="3000"/>
              </a:spcAft>
            </a:pPr>
            <a:r>
              <a:rPr lang="en-US" sz="2000" dirty="0"/>
              <a:t>Deviations from the guidelines described in it should be explained, justified and have the consent of the project supervisor.</a:t>
            </a:r>
          </a:p>
          <a:p>
            <a:endParaRPr lang="en-US" dirty="0"/>
          </a:p>
        </p:txBody>
      </p:sp>
      <p:pic>
        <p:nvPicPr>
          <p:cNvPr id="5" name="Picture 4"/>
          <p:cNvPicPr/>
          <p:nvPr/>
        </p:nvPicPr>
        <p:blipFill rotWithShape="1">
          <a:blip r:embed="rId2" cstate="print"/>
          <a:srcRect l="30257" t="21528" r="49744" b="32658"/>
          <a:stretch/>
        </p:blipFill>
        <p:spPr bwMode="auto">
          <a:xfrm>
            <a:off x="457200" y="1383641"/>
            <a:ext cx="3429000" cy="440755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 xmlns=""/>
            </a:ext>
          </a:extLst>
        </p:spPr>
      </p:pic>
    </p:spTree>
    <p:extLst>
      <p:ext uri="{BB962C8B-B14F-4D97-AF65-F5344CB8AC3E}">
        <p14:creationId xmlns:p14="http://schemas.microsoft.com/office/powerpoint/2010/main" xmlns="" val="36323148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REPORT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348345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Report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Chapter 1: Introduction</a:t>
            </a:r>
          </a:p>
          <a:p>
            <a:r>
              <a:rPr lang="en-US" sz="2000" dirty="0"/>
              <a:t>1.1 Opportunity &amp; Stakeholders </a:t>
            </a:r>
          </a:p>
          <a:p>
            <a:r>
              <a:rPr lang="en-US" sz="2000" dirty="0"/>
              <a:t>1.2 Motivations and Challenges</a:t>
            </a:r>
          </a:p>
          <a:p>
            <a:r>
              <a:rPr lang="en-US" sz="2000" dirty="0"/>
              <a:t>1.3 Goals and Objectives</a:t>
            </a:r>
          </a:p>
          <a:p>
            <a:r>
              <a:rPr lang="en-US" sz="2000" dirty="0"/>
              <a:t>1.4 Solution Overview</a:t>
            </a:r>
          </a:p>
          <a:p>
            <a:r>
              <a:rPr lang="en-US" sz="2000" dirty="0"/>
              <a:t>1.5 Report Outline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Chapter 2: Literature / Market Survey</a:t>
            </a:r>
          </a:p>
          <a:p>
            <a:r>
              <a:rPr lang="en-US" sz="2000" dirty="0"/>
              <a:t>2.1 Introduction</a:t>
            </a:r>
          </a:p>
          <a:p>
            <a:r>
              <a:rPr lang="en-US" sz="2000" dirty="0"/>
              <a:t>2.2 Literature Review/Technologies Overview</a:t>
            </a:r>
          </a:p>
          <a:p>
            <a:r>
              <a:rPr lang="en-US" sz="2000" dirty="0"/>
              <a:t>2.3 Summary</a:t>
            </a:r>
          </a:p>
        </p:txBody>
      </p:sp>
    </p:spTree>
    <p:extLst>
      <p:ext uri="{BB962C8B-B14F-4D97-AF65-F5344CB8AC3E}">
        <p14:creationId xmlns:p14="http://schemas.microsoft.com/office/powerpoint/2010/main" xmlns="" val="34367305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Report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Chapter 3: Requirement Analysis</a:t>
            </a:r>
          </a:p>
          <a:p>
            <a:r>
              <a:rPr lang="en-US" sz="2000" dirty="0"/>
              <a:t>3.1 Introduction </a:t>
            </a:r>
          </a:p>
          <a:p>
            <a:r>
              <a:rPr lang="en-US" sz="2000" dirty="0"/>
              <a:t>3.2 Problem Scenarios</a:t>
            </a:r>
          </a:p>
          <a:p>
            <a:r>
              <a:rPr lang="en-US" sz="2000" dirty="0"/>
              <a:t>3.3 Functional Requirements</a:t>
            </a:r>
          </a:p>
          <a:p>
            <a:r>
              <a:rPr lang="en-US" sz="2000" dirty="0"/>
              <a:t>3.4 Non-Functional Requirements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Chapter 4: System Design</a:t>
            </a:r>
          </a:p>
          <a:p>
            <a:r>
              <a:rPr lang="en-US" sz="2000" dirty="0"/>
              <a:t>4.1 Introduction</a:t>
            </a:r>
          </a:p>
          <a:p>
            <a:r>
              <a:rPr lang="en-US" sz="2000" dirty="0"/>
              <a:t>4.2 Architectural Design</a:t>
            </a:r>
          </a:p>
          <a:p>
            <a:r>
              <a:rPr lang="en-US" sz="2000" dirty="0"/>
              <a:t>4.3 Detailed Design</a:t>
            </a:r>
          </a:p>
        </p:txBody>
      </p:sp>
    </p:spTree>
    <p:extLst>
      <p:ext uri="{BB962C8B-B14F-4D97-AF65-F5344CB8AC3E}">
        <p14:creationId xmlns:p14="http://schemas.microsoft.com/office/powerpoint/2010/main" xmlns="" val="19968819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Report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Chapter 5: Implementation</a:t>
            </a:r>
          </a:p>
          <a:p>
            <a:r>
              <a:rPr lang="en-US" sz="2000" dirty="0"/>
              <a:t>5.1 Endeavour (Team + Work + Way of Working)</a:t>
            </a:r>
          </a:p>
          <a:p>
            <a:r>
              <a:rPr lang="en-US" sz="2000" dirty="0"/>
              <a:t>5.2 Flow Control/Pseudo codes</a:t>
            </a:r>
          </a:p>
          <a:p>
            <a:r>
              <a:rPr lang="en-US" sz="2000" dirty="0"/>
              <a:t>5.3 Components, Libraries, Web Services and stubs</a:t>
            </a:r>
          </a:p>
          <a:p>
            <a:r>
              <a:rPr lang="en-US" sz="2000" dirty="0"/>
              <a:t>5.4 IDE, Tools and Technologies</a:t>
            </a:r>
          </a:p>
          <a:p>
            <a:r>
              <a:rPr lang="en-US" sz="2000" dirty="0"/>
              <a:t>5.5 Best Practices / Coding Standards</a:t>
            </a:r>
          </a:p>
          <a:p>
            <a:pPr lvl="1"/>
            <a:r>
              <a:rPr lang="en-US" sz="1600" b="1" dirty="0"/>
              <a:t>5.5.1 Software Engineering Practices</a:t>
            </a:r>
          </a:p>
          <a:p>
            <a:pPr lvl="1"/>
            <a:r>
              <a:rPr lang="en-US" sz="1600" b="1" dirty="0"/>
              <a:t>5.5.2 Development Practices &amp; Standards</a:t>
            </a:r>
          </a:p>
          <a:p>
            <a:r>
              <a:rPr lang="en-US" sz="2000" dirty="0"/>
              <a:t>5.6 Deployment Environment</a:t>
            </a:r>
          </a:p>
          <a:p>
            <a:r>
              <a:rPr lang="en-US" sz="2000" dirty="0"/>
              <a:t>5.7 Summary</a:t>
            </a:r>
          </a:p>
          <a:p>
            <a:pPr marL="0" indent="0">
              <a:buNone/>
            </a:pPr>
            <a:r>
              <a:rPr lang="en-US" sz="2000" b="1" i="1" dirty="0">
                <a:solidFill>
                  <a:srgbClr val="FF0000"/>
                </a:solidFill>
              </a:rPr>
              <a:t>NOTE: Must Include in Your FYP Part-I Documentation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36790834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Report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b="1" dirty="0"/>
              <a:t>Chapter 6: Testing and Evaluation</a:t>
            </a:r>
          </a:p>
          <a:p>
            <a:r>
              <a:rPr lang="en-US" sz="2200" dirty="0"/>
              <a:t>6.1 Introduction</a:t>
            </a:r>
          </a:p>
          <a:p>
            <a:r>
              <a:rPr lang="en-US" sz="2200" dirty="0"/>
              <a:t>6.2 Test Scenarios</a:t>
            </a:r>
          </a:p>
          <a:p>
            <a:r>
              <a:rPr lang="en-US" sz="2200" dirty="0"/>
              <a:t>6.3 Performance and Evaluation</a:t>
            </a:r>
          </a:p>
          <a:p>
            <a:r>
              <a:rPr lang="en-US" sz="2200" dirty="0"/>
              <a:t>6.4 Summary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Chapter 7: Conclusion and Outlook</a:t>
            </a:r>
          </a:p>
          <a:p>
            <a:r>
              <a:rPr lang="en-US" sz="2200" dirty="0"/>
              <a:t>7.1 Introduction</a:t>
            </a:r>
          </a:p>
          <a:p>
            <a:r>
              <a:rPr lang="en-US" sz="2200" dirty="0"/>
              <a:t>7.2 Achievements and Improvements</a:t>
            </a:r>
          </a:p>
          <a:p>
            <a:r>
              <a:rPr lang="en-US" sz="2200" dirty="0"/>
              <a:t>7.3 Critical Review</a:t>
            </a:r>
          </a:p>
          <a:p>
            <a:r>
              <a:rPr lang="en-US" sz="2200" dirty="0"/>
              <a:t>7.4 Future Recommendations/Outlook</a:t>
            </a:r>
          </a:p>
          <a:p>
            <a:r>
              <a:rPr lang="en-US" sz="2200" dirty="0"/>
              <a:t>7.5 Summary</a:t>
            </a:r>
          </a:p>
        </p:txBody>
      </p:sp>
    </p:spTree>
    <p:extLst>
      <p:ext uri="{BB962C8B-B14F-4D97-AF65-F5344CB8AC3E}">
        <p14:creationId xmlns:p14="http://schemas.microsoft.com/office/powerpoint/2010/main" xmlns="" val="6122974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Report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References</a:t>
            </a:r>
          </a:p>
          <a:p>
            <a:pPr marL="0" indent="0">
              <a:buNone/>
            </a:pPr>
            <a:endParaRPr lang="en-US" sz="2400" b="1" dirty="0"/>
          </a:p>
          <a:p>
            <a:r>
              <a:rPr lang="en-US" sz="2400" b="1" dirty="0"/>
              <a:t>Appendices</a:t>
            </a:r>
          </a:p>
          <a:p>
            <a:pPr lvl="1"/>
            <a:r>
              <a:rPr lang="en-US" sz="2000" dirty="0"/>
              <a:t>Appendix-A: Software Requirements Specifications (SRS)</a:t>
            </a:r>
          </a:p>
          <a:p>
            <a:pPr lvl="1"/>
            <a:r>
              <a:rPr lang="en-US" sz="2000" dirty="0"/>
              <a:t>Appendix-B: Design Documents</a:t>
            </a:r>
          </a:p>
          <a:p>
            <a:pPr lvl="1"/>
            <a:r>
              <a:rPr lang="en-US" sz="2000" dirty="0"/>
              <a:t>Appendix-C: Coding Standards/Conventions</a:t>
            </a:r>
          </a:p>
          <a:p>
            <a:pPr lvl="1"/>
            <a:r>
              <a:rPr lang="en-US" sz="2000" dirty="0"/>
              <a:t>Appendix-D: Test Scenarios</a:t>
            </a:r>
          </a:p>
          <a:p>
            <a:pPr lvl="1"/>
            <a:r>
              <a:rPr lang="en-US" sz="2000" dirty="0"/>
              <a:t>Appendix-E: Work Breakdown Structure</a:t>
            </a:r>
          </a:p>
          <a:p>
            <a:pPr lvl="1"/>
            <a:r>
              <a:rPr lang="en-US" sz="2000" dirty="0"/>
              <a:t>Appendix-F: Roles &amp; Responsibility Matrix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34254828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coordinator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763700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3600"/>
              </a:spcAft>
              <a:buNone/>
            </a:pPr>
            <a:r>
              <a:rPr lang="en-US" sz="2000" dirty="0"/>
              <a:t>For any issues that you may face during the </a:t>
            </a:r>
            <a:r>
              <a:rPr lang="en-US" sz="2000" dirty="0" smtClean="0"/>
              <a:t>project:</a:t>
            </a:r>
          </a:p>
          <a:p>
            <a:pPr lvl="1">
              <a:spcAft>
                <a:spcPts val="600"/>
              </a:spcAft>
            </a:pPr>
            <a:r>
              <a:rPr lang="en-US" sz="2000" b="1" dirty="0" err="1" smtClean="0"/>
              <a:t>Muahmmad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Shabbir</a:t>
            </a:r>
            <a:r>
              <a:rPr lang="en-US" sz="2000" b="1" dirty="0" smtClean="0"/>
              <a:t> Hassan</a:t>
            </a:r>
            <a:br>
              <a:rPr lang="en-US" sz="2000" b="1" dirty="0" smtClean="0"/>
            </a:br>
            <a:endParaRPr lang="en-US" sz="1400" dirty="0" smtClean="0"/>
          </a:p>
          <a:p>
            <a:pPr lvl="2">
              <a:spcAft>
                <a:spcPts val="600"/>
              </a:spcAft>
            </a:pPr>
            <a:r>
              <a:rPr lang="en-US" sz="1600" b="1" dirty="0" smtClean="0"/>
              <a:t>Room</a:t>
            </a:r>
            <a:r>
              <a:rPr lang="en-US" sz="1600" b="1" dirty="0"/>
              <a:t>: </a:t>
            </a:r>
            <a:r>
              <a:rPr lang="en-US" sz="1600" b="1" dirty="0" smtClean="0"/>
              <a:t>208 </a:t>
            </a:r>
            <a:r>
              <a:rPr lang="en-US" sz="1600" b="1" dirty="0"/>
              <a:t>(Block A)</a:t>
            </a:r>
          </a:p>
          <a:p>
            <a:pPr lvl="2">
              <a:spcAft>
                <a:spcPts val="600"/>
              </a:spcAft>
            </a:pPr>
            <a:r>
              <a:rPr lang="en-US" sz="1600" b="1" dirty="0"/>
              <a:t>Email: </a:t>
            </a:r>
            <a:r>
              <a:rPr lang="en-US" sz="1600" dirty="0">
                <a:hlinkClick r:id="rId2"/>
              </a:rPr>
              <a:t>muhammad.shabbir@riphah.edu.pk</a:t>
            </a:r>
            <a:endParaRPr lang="en-US" sz="1600" dirty="0"/>
          </a:p>
          <a:p>
            <a:pPr lvl="2">
              <a:spcAft>
                <a:spcPts val="600"/>
              </a:spcAft>
            </a:pPr>
            <a:endParaRPr lang="en-US" sz="1600" dirty="0"/>
          </a:p>
          <a:p>
            <a:pPr lvl="1">
              <a:spcAft>
                <a:spcPts val="600"/>
              </a:spcAft>
            </a:pPr>
            <a:r>
              <a:rPr lang="en-US" sz="2000" b="1" dirty="0" err="1" smtClean="0"/>
              <a:t>Syed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Hassaan</a:t>
            </a:r>
            <a:r>
              <a:rPr lang="en-US" sz="2000" b="1" dirty="0" smtClean="0"/>
              <a:t> Ali Shah</a:t>
            </a:r>
            <a:endParaRPr lang="en-US" sz="2000" b="1" dirty="0"/>
          </a:p>
          <a:p>
            <a:pPr lvl="2">
              <a:spcAft>
                <a:spcPts val="600"/>
              </a:spcAft>
            </a:pPr>
            <a:r>
              <a:rPr lang="en-US" sz="1600" b="1" smtClean="0"/>
              <a:t>Email</a:t>
            </a:r>
            <a:r>
              <a:rPr lang="en-US" sz="1600" b="1" dirty="0" smtClean="0"/>
              <a:t>: </a:t>
            </a:r>
            <a:r>
              <a:rPr lang="en-US" sz="1600" b="1" dirty="0" smtClean="0">
                <a:hlinkClick r:id="rId3"/>
              </a:rPr>
              <a:t>ha.shah@riphah.edu.pk</a:t>
            </a:r>
            <a:r>
              <a:rPr lang="en-US" sz="1600" b="1" dirty="0" smtClean="0"/>
              <a:t>  </a:t>
            </a:r>
          </a:p>
          <a:p>
            <a:pPr lvl="2">
              <a:spcAft>
                <a:spcPts val="600"/>
              </a:spcAft>
            </a:pPr>
            <a:endParaRPr lang="en-US" sz="1600" dirty="0" smtClean="0"/>
          </a:p>
          <a:p>
            <a:pPr marL="914400" lvl="2" indent="0">
              <a:spcAft>
                <a:spcPts val="600"/>
              </a:spcAft>
              <a:buNone/>
            </a:pPr>
            <a:endParaRPr lang="en-US" sz="1600" dirty="0"/>
          </a:p>
          <a:p>
            <a:pPr lvl="2">
              <a:spcAft>
                <a:spcPts val="600"/>
              </a:spcAft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xmlns="" val="15100664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3600"/>
              </a:spcAft>
              <a:buNone/>
            </a:pPr>
            <a:r>
              <a:rPr lang="en-US" sz="2000" dirty="0"/>
              <a:t>For any issues that you may face during the </a:t>
            </a:r>
            <a:r>
              <a:rPr lang="en-US" sz="2000" dirty="0" smtClean="0"/>
              <a:t>project:</a:t>
            </a:r>
          </a:p>
          <a:p>
            <a:pPr lvl="1">
              <a:spcAft>
                <a:spcPts val="600"/>
              </a:spcAft>
            </a:pPr>
            <a:r>
              <a:rPr lang="en-US" sz="2000" b="1" dirty="0" err="1" smtClean="0"/>
              <a:t>Mubariz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Rehman</a:t>
            </a:r>
            <a:r>
              <a:rPr lang="en-US" sz="2000" b="1" dirty="0" smtClean="0"/>
              <a:t> </a:t>
            </a:r>
            <a:br>
              <a:rPr lang="en-US" sz="2000" b="1" dirty="0" smtClean="0"/>
            </a:br>
            <a:endParaRPr lang="en-US" sz="1400" dirty="0" smtClean="0"/>
          </a:p>
          <a:p>
            <a:pPr lvl="2">
              <a:spcAft>
                <a:spcPts val="600"/>
              </a:spcAft>
            </a:pPr>
            <a:r>
              <a:rPr lang="en-US" sz="1600" b="1" dirty="0" smtClean="0"/>
              <a:t>Room</a:t>
            </a:r>
            <a:r>
              <a:rPr lang="en-US" sz="1600" b="1" dirty="0"/>
              <a:t>: </a:t>
            </a:r>
            <a:r>
              <a:rPr lang="en-US" sz="1600" b="1" dirty="0" smtClean="0"/>
              <a:t>211 </a:t>
            </a:r>
            <a:r>
              <a:rPr lang="en-US" sz="1600" b="1" dirty="0"/>
              <a:t>(Block A)</a:t>
            </a:r>
          </a:p>
          <a:p>
            <a:pPr lvl="2">
              <a:spcAft>
                <a:spcPts val="600"/>
              </a:spcAft>
            </a:pPr>
            <a:r>
              <a:rPr lang="en-US" sz="1600" b="1" dirty="0" smtClean="0"/>
              <a:t>Email: </a:t>
            </a:r>
            <a:r>
              <a:rPr lang="en-US" sz="1600" b="1" dirty="0" smtClean="0">
                <a:hlinkClick r:id="rId2"/>
              </a:rPr>
              <a:t>mubariz.rehman@riphah.edu.pk</a:t>
            </a:r>
            <a:r>
              <a:rPr lang="en-US" sz="1600" b="1" dirty="0" smtClean="0"/>
              <a:t> </a:t>
            </a:r>
            <a:endParaRPr lang="en-US" sz="1600" dirty="0" smtClean="0"/>
          </a:p>
          <a:p>
            <a:pPr lvl="2">
              <a:spcAft>
                <a:spcPts val="600"/>
              </a:spcAft>
              <a:buNone/>
            </a:pPr>
            <a:endParaRPr lang="en-US" sz="1600" dirty="0"/>
          </a:p>
          <a:p>
            <a:pPr lvl="2">
              <a:spcAft>
                <a:spcPts val="600"/>
              </a:spcAft>
            </a:pPr>
            <a:endParaRPr lang="en-US" sz="1600" dirty="0"/>
          </a:p>
          <a:p>
            <a:pPr marL="914400" lvl="2" indent="0">
              <a:spcAft>
                <a:spcPts val="600"/>
              </a:spcAft>
              <a:buNone/>
            </a:pPr>
            <a:endParaRPr lang="en-US" sz="1600" dirty="0"/>
          </a:p>
          <a:p>
            <a:pPr lvl="2">
              <a:spcAft>
                <a:spcPts val="600"/>
              </a:spcAft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xmlns="" val="15100664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xmlns="" val="376259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5925</TotalTime>
  <Words>2075</Words>
  <Application>Microsoft Office PowerPoint</Application>
  <PresentationFormat>On-screen Show (4:3)</PresentationFormat>
  <Paragraphs>407</Paragraphs>
  <Slides>47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Office Theme</vt:lpstr>
      <vt:lpstr>Final Year Project Orientation</vt:lpstr>
      <vt:lpstr>Content</vt:lpstr>
      <vt:lpstr>Project Idea / Scope</vt:lpstr>
      <vt:lpstr>Purpose of Final Year Project</vt:lpstr>
      <vt:lpstr>Final Year Project</vt:lpstr>
      <vt:lpstr>Project</vt:lpstr>
      <vt:lpstr>Project Idea</vt:lpstr>
      <vt:lpstr>Project Team / Supervisor</vt:lpstr>
      <vt:lpstr>Project Team</vt:lpstr>
      <vt:lpstr>Role of Project Supervisor</vt:lpstr>
      <vt:lpstr>Project Supervisors</vt:lpstr>
      <vt:lpstr>Project Supervisors</vt:lpstr>
      <vt:lpstr>Project Supervisors</vt:lpstr>
      <vt:lpstr>Policies</vt:lpstr>
      <vt:lpstr>Attendance</vt:lpstr>
      <vt:lpstr>Moellim</vt:lpstr>
      <vt:lpstr>Plagiarism</vt:lpstr>
      <vt:lpstr>Project Assessment (Part I)</vt:lpstr>
      <vt:lpstr>Project Assessment (Part I)</vt:lpstr>
      <vt:lpstr>Project Assessment (Part I)</vt:lpstr>
      <vt:lpstr>Project Assessment (Part II)</vt:lpstr>
      <vt:lpstr>Project Assessment (Part II)</vt:lpstr>
      <vt:lpstr>SCHEDULE / DELIVERABLES</vt:lpstr>
      <vt:lpstr>Final Year Project (Part I) Process</vt:lpstr>
      <vt:lpstr>Final Year Project (Part I) Process</vt:lpstr>
      <vt:lpstr>Final Year Project (Part I) Process</vt:lpstr>
      <vt:lpstr>Final Year Project (Part I) Process</vt:lpstr>
      <vt:lpstr>Final Year Project (Part I) Process</vt:lpstr>
      <vt:lpstr>Final Year Project (Part I) Process</vt:lpstr>
      <vt:lpstr>Final Year Project (Part I) Process</vt:lpstr>
      <vt:lpstr>Final Year Project (Part I)</vt:lpstr>
      <vt:lpstr>Final Year Project (Part II)</vt:lpstr>
      <vt:lpstr>Project Templates</vt:lpstr>
      <vt:lpstr>Project Templates</vt:lpstr>
      <vt:lpstr>Proposal Presentation</vt:lpstr>
      <vt:lpstr>Progress Presentation</vt:lpstr>
      <vt:lpstr>Handbook</vt:lpstr>
      <vt:lpstr>Project REPORT</vt:lpstr>
      <vt:lpstr>Project Report</vt:lpstr>
      <vt:lpstr>Project Report</vt:lpstr>
      <vt:lpstr>Project Report</vt:lpstr>
      <vt:lpstr>Project Report</vt:lpstr>
      <vt:lpstr>Project Report</vt:lpstr>
      <vt:lpstr>Project coordinator</vt:lpstr>
      <vt:lpstr>Contact</vt:lpstr>
      <vt:lpstr>Contact</vt:lpstr>
      <vt:lpstr>Thank You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Development Profile</dc:title>
  <dc:creator>khan@pin.com.pk</dc:creator>
  <cp:lastModifiedBy>Usman</cp:lastModifiedBy>
  <cp:revision>390</cp:revision>
  <cp:lastPrinted>2018-09-15T18:34:43Z</cp:lastPrinted>
  <dcterms:created xsi:type="dcterms:W3CDTF">2014-11-12T07:08:17Z</dcterms:created>
  <dcterms:modified xsi:type="dcterms:W3CDTF">2025-08-27T07:04:27Z</dcterms:modified>
</cp:coreProperties>
</file>